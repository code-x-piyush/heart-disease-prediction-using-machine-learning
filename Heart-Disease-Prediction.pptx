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5"/>
  </p:notesMasterIdLst>
  <p:sldIdLst>
    <p:sldId id="256" r:id="rId2"/>
    <p:sldId id="257" r:id="rId3"/>
    <p:sldId id="258" r:id="rId4"/>
    <p:sldId id="270" r:id="rId5"/>
    <p:sldId id="259" r:id="rId6"/>
    <p:sldId id="260" r:id="rId7"/>
    <p:sldId id="261" r:id="rId8"/>
    <p:sldId id="262" r:id="rId9"/>
    <p:sldId id="269" r:id="rId10"/>
    <p:sldId id="265" r:id="rId11"/>
    <p:sldId id="266" r:id="rId12"/>
    <p:sldId id="267" r:id="rId13"/>
    <p:sldId id="268" r:id="rId14"/>
  </p:sldIdLst>
  <p:sldSz cx="18288000" cy="10287000"/>
  <p:notesSz cx="7104063" cy="102346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309" autoAdjust="0"/>
  </p:normalViewPr>
  <p:slideViewPr>
    <p:cSldViewPr snapToGrid="0">
      <p:cViewPr varScale="1">
        <p:scale>
          <a:sx n="73" d="100"/>
          <a:sy n="73" d="100"/>
        </p:scale>
        <p:origin x="594"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42875" y="768350"/>
            <a:ext cx="6818313"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10407" y="4861441"/>
            <a:ext cx="5683250" cy="4605576"/>
          </a:xfrm>
          <a:prstGeom prst="rect">
            <a:avLst/>
          </a:prstGeom>
          <a:noFill/>
          <a:ln>
            <a:noFill/>
          </a:ln>
        </p:spPr>
        <p:txBody>
          <a:bodyPr spcFirstLastPara="1" wrap="square" lIns="99059" tIns="99059" rIns="99059" bIns="99059"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02029317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710407" y="4861441"/>
            <a:ext cx="5683250" cy="4605576"/>
          </a:xfrm>
          <a:prstGeom prst="rect">
            <a:avLst/>
          </a:prstGeom>
        </p:spPr>
        <p:txBody>
          <a:bodyPr spcFirstLastPara="1" wrap="square" lIns="99059" tIns="99059" rIns="99059" bIns="99059" anchor="t" anchorCtr="0">
            <a:noAutofit/>
          </a:bodyPr>
          <a:lstStyle/>
          <a:p>
            <a:pPr marL="0" indent="0">
              <a:buNone/>
            </a:pPr>
            <a:endParaRPr/>
          </a:p>
        </p:txBody>
      </p:sp>
      <p:sp>
        <p:nvSpPr>
          <p:cNvPr id="82" name="Google Shape;82;p1:notes"/>
          <p:cNvSpPr>
            <a:spLocks noGrp="1" noRot="1" noChangeAspect="1"/>
          </p:cNvSpPr>
          <p:nvPr>
            <p:ph type="sldImg" idx="2"/>
          </p:nvPr>
        </p:nvSpPr>
        <p:spPr>
          <a:xfrm>
            <a:off x="142875" y="768350"/>
            <a:ext cx="6818313"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637107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2:notes"/>
          <p:cNvSpPr txBox="1">
            <a:spLocks noGrp="1"/>
          </p:cNvSpPr>
          <p:nvPr>
            <p:ph type="body" idx="1"/>
          </p:nvPr>
        </p:nvSpPr>
        <p:spPr>
          <a:xfrm>
            <a:off x="710407" y="4861441"/>
            <a:ext cx="5683250" cy="4605576"/>
          </a:xfrm>
          <a:prstGeom prst="rect">
            <a:avLst/>
          </a:prstGeom>
        </p:spPr>
        <p:txBody>
          <a:bodyPr spcFirstLastPara="1" wrap="square" lIns="99059" tIns="99059" rIns="99059" bIns="99059" anchor="t" anchorCtr="0">
            <a:noAutofit/>
          </a:bodyPr>
          <a:lstStyle/>
          <a:p>
            <a:pPr marL="0" indent="0">
              <a:buNone/>
            </a:pPr>
            <a:endParaRPr/>
          </a:p>
        </p:txBody>
      </p:sp>
      <p:sp>
        <p:nvSpPr>
          <p:cNvPr id="90" name="Google Shape;90;p2:notes"/>
          <p:cNvSpPr>
            <a:spLocks noGrp="1" noRot="1" noChangeAspect="1"/>
          </p:cNvSpPr>
          <p:nvPr>
            <p:ph type="sldImg" idx="2"/>
          </p:nvPr>
        </p:nvSpPr>
        <p:spPr>
          <a:xfrm>
            <a:off x="142875" y="768350"/>
            <a:ext cx="6818313"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762847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3:notes"/>
          <p:cNvSpPr txBox="1">
            <a:spLocks noGrp="1"/>
          </p:cNvSpPr>
          <p:nvPr>
            <p:ph type="body" idx="1"/>
          </p:nvPr>
        </p:nvSpPr>
        <p:spPr>
          <a:xfrm>
            <a:off x="710407" y="4861441"/>
            <a:ext cx="5683250" cy="4605576"/>
          </a:xfrm>
          <a:prstGeom prst="rect">
            <a:avLst/>
          </a:prstGeom>
        </p:spPr>
        <p:txBody>
          <a:bodyPr spcFirstLastPara="1" wrap="square" lIns="99059" tIns="99059" rIns="99059" bIns="99059" anchor="t" anchorCtr="0">
            <a:noAutofit/>
          </a:bodyPr>
          <a:lstStyle/>
          <a:p>
            <a:pPr marL="0" indent="0">
              <a:buNone/>
            </a:pPr>
            <a:endParaRPr/>
          </a:p>
        </p:txBody>
      </p:sp>
      <p:sp>
        <p:nvSpPr>
          <p:cNvPr id="101" name="Google Shape;101;p3:notes"/>
          <p:cNvSpPr>
            <a:spLocks noGrp="1" noRot="1" noChangeAspect="1"/>
          </p:cNvSpPr>
          <p:nvPr>
            <p:ph type="sldImg" idx="2"/>
          </p:nvPr>
        </p:nvSpPr>
        <p:spPr>
          <a:xfrm>
            <a:off x="142875" y="768350"/>
            <a:ext cx="6818313"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14940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4:notes"/>
          <p:cNvSpPr txBox="1">
            <a:spLocks noGrp="1"/>
          </p:cNvSpPr>
          <p:nvPr>
            <p:ph type="body" idx="1"/>
          </p:nvPr>
        </p:nvSpPr>
        <p:spPr>
          <a:xfrm>
            <a:off x="710407" y="4861441"/>
            <a:ext cx="5683250" cy="4605576"/>
          </a:xfrm>
          <a:prstGeom prst="rect">
            <a:avLst/>
          </a:prstGeom>
        </p:spPr>
        <p:txBody>
          <a:bodyPr spcFirstLastPara="1" wrap="square" lIns="99059" tIns="99059" rIns="99059" bIns="99059" anchor="t" anchorCtr="0">
            <a:noAutofit/>
          </a:bodyPr>
          <a:lstStyle/>
          <a:p>
            <a:pPr marL="0" indent="0">
              <a:buNone/>
            </a:pPr>
            <a:endParaRPr/>
          </a:p>
        </p:txBody>
      </p:sp>
      <p:sp>
        <p:nvSpPr>
          <p:cNvPr id="109" name="Google Shape;109;p4:notes"/>
          <p:cNvSpPr>
            <a:spLocks noGrp="1" noRot="1" noChangeAspect="1"/>
          </p:cNvSpPr>
          <p:nvPr>
            <p:ph type="sldImg" idx="2"/>
          </p:nvPr>
        </p:nvSpPr>
        <p:spPr>
          <a:xfrm>
            <a:off x="142875" y="768350"/>
            <a:ext cx="6818313"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782140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5:notes"/>
          <p:cNvSpPr txBox="1">
            <a:spLocks noGrp="1"/>
          </p:cNvSpPr>
          <p:nvPr>
            <p:ph type="body" idx="1"/>
          </p:nvPr>
        </p:nvSpPr>
        <p:spPr>
          <a:xfrm>
            <a:off x="710407" y="4861441"/>
            <a:ext cx="5683250" cy="4605576"/>
          </a:xfrm>
          <a:prstGeom prst="rect">
            <a:avLst/>
          </a:prstGeom>
        </p:spPr>
        <p:txBody>
          <a:bodyPr spcFirstLastPara="1" wrap="square" lIns="99059" tIns="99059" rIns="99059" bIns="99059" anchor="t" anchorCtr="0">
            <a:noAutofit/>
          </a:bodyPr>
          <a:lstStyle/>
          <a:p>
            <a:pPr marL="0" indent="0">
              <a:buNone/>
            </a:pPr>
            <a:endParaRPr/>
          </a:p>
        </p:txBody>
      </p:sp>
      <p:sp>
        <p:nvSpPr>
          <p:cNvPr id="160" name="Google Shape;160;p5:notes"/>
          <p:cNvSpPr>
            <a:spLocks noGrp="1" noRot="1" noChangeAspect="1"/>
          </p:cNvSpPr>
          <p:nvPr>
            <p:ph type="sldImg" idx="2"/>
          </p:nvPr>
        </p:nvSpPr>
        <p:spPr>
          <a:xfrm>
            <a:off x="142875" y="768350"/>
            <a:ext cx="6818313"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919321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6:notes"/>
          <p:cNvSpPr txBox="1">
            <a:spLocks noGrp="1"/>
          </p:cNvSpPr>
          <p:nvPr>
            <p:ph type="body" idx="1"/>
          </p:nvPr>
        </p:nvSpPr>
        <p:spPr>
          <a:xfrm>
            <a:off x="710407" y="4861441"/>
            <a:ext cx="5683250" cy="4605576"/>
          </a:xfrm>
          <a:prstGeom prst="rect">
            <a:avLst/>
          </a:prstGeom>
        </p:spPr>
        <p:txBody>
          <a:bodyPr spcFirstLastPara="1" wrap="square" lIns="99059" tIns="99059" rIns="99059" bIns="99059" anchor="t" anchorCtr="0">
            <a:noAutofit/>
          </a:bodyPr>
          <a:lstStyle/>
          <a:p>
            <a:pPr marL="0" indent="0">
              <a:buNone/>
            </a:pPr>
            <a:endParaRPr/>
          </a:p>
        </p:txBody>
      </p:sp>
      <p:sp>
        <p:nvSpPr>
          <p:cNvPr id="178" name="Google Shape;178;p6:notes"/>
          <p:cNvSpPr>
            <a:spLocks noGrp="1" noRot="1" noChangeAspect="1"/>
          </p:cNvSpPr>
          <p:nvPr>
            <p:ph type="sldImg" idx="2"/>
          </p:nvPr>
        </p:nvSpPr>
        <p:spPr>
          <a:xfrm>
            <a:off x="142875" y="768350"/>
            <a:ext cx="6818313"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403967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7:notes"/>
          <p:cNvSpPr txBox="1">
            <a:spLocks noGrp="1"/>
          </p:cNvSpPr>
          <p:nvPr>
            <p:ph type="body" idx="1"/>
          </p:nvPr>
        </p:nvSpPr>
        <p:spPr>
          <a:xfrm>
            <a:off x="710407" y="4861441"/>
            <a:ext cx="5683250" cy="4605576"/>
          </a:xfrm>
          <a:prstGeom prst="rect">
            <a:avLst/>
          </a:prstGeom>
        </p:spPr>
        <p:txBody>
          <a:bodyPr spcFirstLastPara="1" wrap="square" lIns="99059" tIns="99059" rIns="99059" bIns="99059" anchor="t" anchorCtr="0">
            <a:noAutofit/>
          </a:bodyPr>
          <a:lstStyle/>
          <a:p>
            <a:pPr marL="0" indent="0">
              <a:buNone/>
            </a:pPr>
            <a:endParaRPr/>
          </a:p>
        </p:txBody>
      </p:sp>
      <p:sp>
        <p:nvSpPr>
          <p:cNvPr id="202" name="Google Shape;202;p7:notes"/>
          <p:cNvSpPr>
            <a:spLocks noGrp="1" noRot="1" noChangeAspect="1"/>
          </p:cNvSpPr>
          <p:nvPr>
            <p:ph type="sldImg" idx="2"/>
          </p:nvPr>
        </p:nvSpPr>
        <p:spPr>
          <a:xfrm>
            <a:off x="142875" y="768350"/>
            <a:ext cx="6818313"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456469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10:notes"/>
          <p:cNvSpPr txBox="1">
            <a:spLocks noGrp="1"/>
          </p:cNvSpPr>
          <p:nvPr>
            <p:ph type="body" idx="1"/>
          </p:nvPr>
        </p:nvSpPr>
        <p:spPr>
          <a:xfrm>
            <a:off x="710407" y="4861441"/>
            <a:ext cx="5683250" cy="4605576"/>
          </a:xfrm>
          <a:prstGeom prst="rect">
            <a:avLst/>
          </a:prstGeom>
        </p:spPr>
        <p:txBody>
          <a:bodyPr spcFirstLastPara="1" wrap="square" lIns="99059" tIns="99059" rIns="99059" bIns="99059" anchor="t" anchorCtr="0">
            <a:noAutofit/>
          </a:bodyPr>
          <a:lstStyle/>
          <a:p>
            <a:pPr marL="0" indent="0">
              <a:buNone/>
            </a:pPr>
            <a:endParaRPr/>
          </a:p>
        </p:txBody>
      </p:sp>
      <p:sp>
        <p:nvSpPr>
          <p:cNvPr id="319" name="Google Shape;319;p10:notes"/>
          <p:cNvSpPr>
            <a:spLocks noGrp="1" noRot="1" noChangeAspect="1"/>
          </p:cNvSpPr>
          <p:nvPr>
            <p:ph type="sldImg" idx="2"/>
          </p:nvPr>
        </p:nvSpPr>
        <p:spPr>
          <a:xfrm>
            <a:off x="142875" y="768350"/>
            <a:ext cx="6818313"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13064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11:notes"/>
          <p:cNvSpPr txBox="1">
            <a:spLocks noGrp="1"/>
          </p:cNvSpPr>
          <p:nvPr>
            <p:ph type="body" idx="1"/>
          </p:nvPr>
        </p:nvSpPr>
        <p:spPr>
          <a:xfrm>
            <a:off x="710407" y="4861441"/>
            <a:ext cx="5683250" cy="4605576"/>
          </a:xfrm>
          <a:prstGeom prst="rect">
            <a:avLst/>
          </a:prstGeom>
        </p:spPr>
        <p:txBody>
          <a:bodyPr spcFirstLastPara="1" wrap="square" lIns="99059" tIns="99059" rIns="99059" bIns="99059" anchor="t" anchorCtr="0">
            <a:noAutofit/>
          </a:bodyPr>
          <a:lstStyle/>
          <a:p>
            <a:pPr marL="0" indent="0">
              <a:buNone/>
            </a:pPr>
            <a:endParaRPr/>
          </a:p>
        </p:txBody>
      </p:sp>
      <p:sp>
        <p:nvSpPr>
          <p:cNvPr id="349" name="Google Shape;349;p11:notes"/>
          <p:cNvSpPr>
            <a:spLocks noGrp="1" noRot="1" noChangeAspect="1"/>
          </p:cNvSpPr>
          <p:nvPr>
            <p:ph type="sldImg" idx="2"/>
          </p:nvPr>
        </p:nvSpPr>
        <p:spPr>
          <a:xfrm>
            <a:off x="142875" y="768350"/>
            <a:ext cx="6818313"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185206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p12:notes"/>
          <p:cNvSpPr txBox="1">
            <a:spLocks noGrp="1"/>
          </p:cNvSpPr>
          <p:nvPr>
            <p:ph type="body" idx="1"/>
          </p:nvPr>
        </p:nvSpPr>
        <p:spPr>
          <a:xfrm>
            <a:off x="710407" y="4861441"/>
            <a:ext cx="5683250" cy="4605576"/>
          </a:xfrm>
          <a:prstGeom prst="rect">
            <a:avLst/>
          </a:prstGeom>
        </p:spPr>
        <p:txBody>
          <a:bodyPr spcFirstLastPara="1" wrap="square" lIns="99059" tIns="99059" rIns="99059" bIns="99059" anchor="t" anchorCtr="0">
            <a:noAutofit/>
          </a:bodyPr>
          <a:lstStyle/>
          <a:p>
            <a:pPr marL="0" indent="0">
              <a:buNone/>
            </a:pPr>
            <a:endParaRPr/>
          </a:p>
        </p:txBody>
      </p:sp>
      <p:sp>
        <p:nvSpPr>
          <p:cNvPr id="359" name="Google Shape;359;p12:notes"/>
          <p:cNvSpPr>
            <a:spLocks noGrp="1" noRot="1" noChangeAspect="1"/>
          </p:cNvSpPr>
          <p:nvPr>
            <p:ph type="sldImg" idx="2"/>
          </p:nvPr>
        </p:nvSpPr>
        <p:spPr>
          <a:xfrm>
            <a:off x="142875" y="768350"/>
            <a:ext cx="6818313"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475083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13:notes"/>
          <p:cNvSpPr txBox="1">
            <a:spLocks noGrp="1"/>
          </p:cNvSpPr>
          <p:nvPr>
            <p:ph type="body" idx="1"/>
          </p:nvPr>
        </p:nvSpPr>
        <p:spPr>
          <a:xfrm>
            <a:off x="710407" y="4861441"/>
            <a:ext cx="5683250" cy="4605576"/>
          </a:xfrm>
          <a:prstGeom prst="rect">
            <a:avLst/>
          </a:prstGeom>
        </p:spPr>
        <p:txBody>
          <a:bodyPr spcFirstLastPara="1" wrap="square" lIns="99059" tIns="99059" rIns="99059" bIns="99059" anchor="t" anchorCtr="0">
            <a:noAutofit/>
          </a:bodyPr>
          <a:lstStyle/>
          <a:p>
            <a:pPr marL="0" indent="0">
              <a:buNone/>
            </a:pPr>
            <a:endParaRPr/>
          </a:p>
        </p:txBody>
      </p:sp>
      <p:sp>
        <p:nvSpPr>
          <p:cNvPr id="368" name="Google Shape;368;p13:notes"/>
          <p:cNvSpPr>
            <a:spLocks noGrp="1" noRot="1" noChangeAspect="1"/>
          </p:cNvSpPr>
          <p:nvPr>
            <p:ph type="sldImg" idx="2"/>
          </p:nvPr>
        </p:nvSpPr>
        <p:spPr>
          <a:xfrm>
            <a:off x="142875" y="768350"/>
            <a:ext cx="6818313"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184099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2.jp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 name="Picture 6" descr="abstrait numérique La technologie cerveau futuriste, ai artificiel  intelligence bleu arrière-plan, cyber science santé technologie, innovation  bavarder futur gros données, l'Internet réseau connexion, nuage  salut-technologie vecteur 33890724 Art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8288000" cy="10287000"/>
          </a:xfrm>
          <a:prstGeom prst="rect">
            <a:avLst/>
          </a:prstGeom>
          <a:noFill/>
          <a:extLst>
            <a:ext uri="{909E8E84-426E-40DD-AFC4-6F175D3DCCD1}">
              <a14:hiddenFill xmlns:a14="http://schemas.microsoft.com/office/drawing/2010/main">
                <a:solidFill>
                  <a:srgbClr val="FFFFFF"/>
                </a:solidFill>
              </a14:hiddenFill>
            </a:ext>
          </a:extLst>
        </p:spPr>
      </p:pic>
      <p:sp>
        <p:nvSpPr>
          <p:cNvPr id="86" name="Google Shape;86;p13"/>
          <p:cNvSpPr/>
          <p:nvPr/>
        </p:nvSpPr>
        <p:spPr>
          <a:xfrm>
            <a:off x="0" y="1179621"/>
            <a:ext cx="18288000" cy="1696929"/>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IN" sz="12000" b="1" i="0" u="none" strike="noStrike" cap="none" dirty="0" smtClean="0">
                <a:solidFill>
                  <a:schemeClr val="lt1"/>
                </a:solidFill>
                <a:latin typeface="Ink Free" panose="03080402000500000000" pitchFamily="66" charset="0"/>
                <a:ea typeface="Impact"/>
                <a:cs typeface="Impact"/>
                <a:sym typeface="Impact"/>
              </a:rPr>
              <a:t>Heart Disease Prediction</a:t>
            </a:r>
            <a:endParaRPr sz="12000" b="1" dirty="0">
              <a:solidFill>
                <a:schemeClr val="lt1"/>
              </a:solidFill>
              <a:latin typeface="Ink Free" panose="03080402000500000000" pitchFamily="66" charset="0"/>
              <a:ea typeface="Impact"/>
              <a:cs typeface="Impact"/>
              <a:sym typeface="Impact"/>
            </a:endParaRPr>
          </a:p>
        </p:txBody>
      </p:sp>
      <p:sp>
        <p:nvSpPr>
          <p:cNvPr id="7" name="Google Shape;86;p13"/>
          <p:cNvSpPr/>
          <p:nvPr/>
        </p:nvSpPr>
        <p:spPr>
          <a:xfrm>
            <a:off x="1764574" y="3198922"/>
            <a:ext cx="14400790" cy="1087328"/>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IN" sz="6600" b="1" i="0" u="none" strike="noStrike" cap="none" dirty="0" smtClean="0">
                <a:solidFill>
                  <a:schemeClr val="lt1"/>
                </a:solidFill>
                <a:latin typeface="Comic Sans MS" panose="030F0702030302020204" pitchFamily="66" charset="0"/>
                <a:ea typeface="Impact"/>
                <a:cs typeface="Impact"/>
                <a:sym typeface="Impact"/>
              </a:rPr>
              <a:t>Using Classification</a:t>
            </a:r>
            <a:endParaRPr sz="6600" b="1" dirty="0">
              <a:solidFill>
                <a:schemeClr val="lt1"/>
              </a:solidFill>
              <a:latin typeface="Comic Sans MS" panose="030F0702030302020204" pitchFamily="66" charset="0"/>
              <a:ea typeface="Impact"/>
              <a:cs typeface="Impact"/>
              <a:sym typeface="Impact"/>
            </a:endParaRPr>
          </a:p>
        </p:txBody>
      </p:sp>
      <p:sp>
        <p:nvSpPr>
          <p:cNvPr id="2" name="Rectangle 1"/>
          <p:cNvSpPr/>
          <p:nvPr/>
        </p:nvSpPr>
        <p:spPr>
          <a:xfrm>
            <a:off x="13598471" y="8875812"/>
            <a:ext cx="4083170" cy="830997"/>
          </a:xfrm>
          <a:prstGeom prst="rect">
            <a:avLst/>
          </a:prstGeom>
        </p:spPr>
        <p:txBody>
          <a:bodyPr wrap="none">
            <a:spAutoFit/>
          </a:bodyPr>
          <a:lstStyle/>
          <a:p>
            <a:pPr lvl="0" algn="ctr"/>
            <a:r>
              <a:rPr lang="en-IN" sz="4800" b="1" dirty="0" smtClean="0">
                <a:solidFill>
                  <a:srgbClr val="FFC000"/>
                </a:solidFill>
                <a:latin typeface="Comic Sans MS" panose="030F0702030302020204" pitchFamily="66" charset="0"/>
                <a:ea typeface="Impact"/>
                <a:cs typeface="Impact"/>
                <a:sym typeface="Impact"/>
              </a:rPr>
              <a:t>Piyush Kumar</a:t>
            </a:r>
            <a:endParaRPr lang="en-IN" sz="4800" b="1" dirty="0">
              <a:solidFill>
                <a:srgbClr val="FFC000"/>
              </a:solidFill>
              <a:latin typeface="Comic Sans MS" panose="030F0702030302020204" pitchFamily="66" charset="0"/>
              <a:ea typeface="Impact"/>
              <a:cs typeface="Impact"/>
              <a:sym typeface="Impac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6"/>
                                        </p:tgtEl>
                                        <p:attrNameLst>
                                          <p:attrName>style.visibility</p:attrName>
                                        </p:attrNameLst>
                                      </p:cBhvr>
                                      <p:to>
                                        <p:strVal val="visible"/>
                                      </p:to>
                                    </p:set>
                                    <p:anim calcmode="lin" valueType="num">
                                      <p:cBhvr additive="base">
                                        <p:cTn id="7" dur="500"/>
                                        <p:tgtEl>
                                          <p:spTgt spid="86"/>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pic>
        <p:nvPicPr>
          <p:cNvPr id="26" name="Picture 6" descr="abstrait numérique La technologie cerveau futuriste, ai artificiel  intelligence bleu arrière-plan, cyber science santé technologie, innovation  bavarder futur gros données, l'Internet réseau connexion, nuage  salut-technologie vecteur 33890724 Art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8288000" cy="10287000"/>
          </a:xfrm>
          <a:prstGeom prst="rect">
            <a:avLst/>
          </a:prstGeom>
          <a:noFill/>
          <a:extLst>
            <a:ext uri="{909E8E84-426E-40DD-AFC4-6F175D3DCCD1}">
              <a14:hiddenFill xmlns:a14="http://schemas.microsoft.com/office/drawing/2010/main">
                <a:solidFill>
                  <a:srgbClr val="FFFFFF"/>
                </a:solidFill>
              </a14:hiddenFill>
            </a:ext>
          </a:extLst>
        </p:spPr>
      </p:pic>
      <p:sp>
        <p:nvSpPr>
          <p:cNvPr id="21" name="object 6"/>
          <p:cNvSpPr/>
          <p:nvPr/>
        </p:nvSpPr>
        <p:spPr>
          <a:xfrm>
            <a:off x="1098059" y="1976307"/>
            <a:ext cx="7690398" cy="4278556"/>
          </a:xfrm>
          <a:custGeom>
            <a:avLst/>
            <a:gdLst/>
            <a:ahLst/>
            <a:cxnLst/>
            <a:rect l="l" t="t" r="r" b="b"/>
            <a:pathLst>
              <a:path w="3816984" h="2486660">
                <a:moveTo>
                  <a:pt x="3737356" y="0"/>
                </a:moveTo>
                <a:lnTo>
                  <a:pt x="79375" y="0"/>
                </a:lnTo>
                <a:lnTo>
                  <a:pt x="48488" y="6240"/>
                </a:lnTo>
                <a:lnTo>
                  <a:pt x="23256" y="23256"/>
                </a:lnTo>
                <a:lnTo>
                  <a:pt x="6240" y="48488"/>
                </a:lnTo>
                <a:lnTo>
                  <a:pt x="0" y="79375"/>
                </a:lnTo>
                <a:lnTo>
                  <a:pt x="0" y="2407285"/>
                </a:lnTo>
                <a:lnTo>
                  <a:pt x="6240" y="2438171"/>
                </a:lnTo>
                <a:lnTo>
                  <a:pt x="23256" y="2463403"/>
                </a:lnTo>
                <a:lnTo>
                  <a:pt x="48488" y="2480419"/>
                </a:lnTo>
                <a:lnTo>
                  <a:pt x="79375" y="2486660"/>
                </a:lnTo>
                <a:lnTo>
                  <a:pt x="3737356" y="2486660"/>
                </a:lnTo>
                <a:lnTo>
                  <a:pt x="3768242" y="2480419"/>
                </a:lnTo>
                <a:lnTo>
                  <a:pt x="3793474" y="2463403"/>
                </a:lnTo>
                <a:lnTo>
                  <a:pt x="3810490" y="2438171"/>
                </a:lnTo>
                <a:lnTo>
                  <a:pt x="3816731" y="2407285"/>
                </a:lnTo>
                <a:lnTo>
                  <a:pt x="3816731" y="79375"/>
                </a:lnTo>
                <a:lnTo>
                  <a:pt x="3810490" y="48488"/>
                </a:lnTo>
                <a:lnTo>
                  <a:pt x="3793474" y="23256"/>
                </a:lnTo>
                <a:lnTo>
                  <a:pt x="3768242" y="6240"/>
                </a:lnTo>
                <a:lnTo>
                  <a:pt x="3737356" y="0"/>
                </a:lnTo>
                <a:close/>
              </a:path>
            </a:pathLst>
          </a:custGeom>
          <a:noFill/>
          <a:ln w="76200">
            <a:solidFill>
              <a:schemeClr val="tx1"/>
            </a:solidFill>
          </a:ln>
        </p:spPr>
        <p:txBody>
          <a:bodyPr wrap="square" lIns="0" tIns="0" rIns="0" bIns="0" rtlCol="0"/>
          <a:lstStyle/>
          <a:p>
            <a:endParaRPr/>
          </a:p>
        </p:txBody>
      </p:sp>
      <p:sp>
        <p:nvSpPr>
          <p:cNvPr id="22" name="object 7"/>
          <p:cNvSpPr/>
          <p:nvPr/>
        </p:nvSpPr>
        <p:spPr>
          <a:xfrm>
            <a:off x="1098059" y="1976307"/>
            <a:ext cx="7690398" cy="4278556"/>
          </a:xfrm>
          <a:custGeom>
            <a:avLst/>
            <a:gdLst/>
            <a:ahLst/>
            <a:cxnLst/>
            <a:rect l="l" t="t" r="r" b="b"/>
            <a:pathLst>
              <a:path w="3816984" h="2486660">
                <a:moveTo>
                  <a:pt x="0" y="79375"/>
                </a:moveTo>
                <a:lnTo>
                  <a:pt x="6240" y="48488"/>
                </a:lnTo>
                <a:lnTo>
                  <a:pt x="23256" y="23256"/>
                </a:lnTo>
                <a:lnTo>
                  <a:pt x="48488" y="6240"/>
                </a:lnTo>
                <a:lnTo>
                  <a:pt x="79375" y="0"/>
                </a:lnTo>
                <a:lnTo>
                  <a:pt x="3737356" y="0"/>
                </a:lnTo>
                <a:lnTo>
                  <a:pt x="3768242" y="6240"/>
                </a:lnTo>
                <a:lnTo>
                  <a:pt x="3793474" y="23256"/>
                </a:lnTo>
                <a:lnTo>
                  <a:pt x="3810490" y="48488"/>
                </a:lnTo>
                <a:lnTo>
                  <a:pt x="3816731" y="79375"/>
                </a:lnTo>
                <a:lnTo>
                  <a:pt x="3816731" y="2407285"/>
                </a:lnTo>
                <a:lnTo>
                  <a:pt x="3810490" y="2438171"/>
                </a:lnTo>
                <a:lnTo>
                  <a:pt x="3793474" y="2463403"/>
                </a:lnTo>
                <a:lnTo>
                  <a:pt x="3768242" y="2480419"/>
                </a:lnTo>
                <a:lnTo>
                  <a:pt x="3737356" y="2486660"/>
                </a:lnTo>
                <a:lnTo>
                  <a:pt x="79375" y="2486660"/>
                </a:lnTo>
                <a:lnTo>
                  <a:pt x="48488" y="2480419"/>
                </a:lnTo>
                <a:lnTo>
                  <a:pt x="23256" y="2463403"/>
                </a:lnTo>
                <a:lnTo>
                  <a:pt x="6240" y="2438171"/>
                </a:lnTo>
                <a:lnTo>
                  <a:pt x="0" y="2407285"/>
                </a:lnTo>
                <a:lnTo>
                  <a:pt x="0" y="79375"/>
                </a:lnTo>
                <a:close/>
              </a:path>
            </a:pathLst>
          </a:custGeom>
          <a:noFill/>
          <a:ln w="76200">
            <a:solidFill>
              <a:srgbClr val="8D2323"/>
            </a:solidFill>
          </a:ln>
        </p:spPr>
        <p:txBody>
          <a:bodyPr wrap="square" lIns="0" tIns="0" rIns="0" bIns="0" rtlCol="0"/>
          <a:lstStyle/>
          <a:p>
            <a:endParaRPr/>
          </a:p>
        </p:txBody>
      </p:sp>
      <p:pic>
        <p:nvPicPr>
          <p:cNvPr id="24" name="object 9"/>
          <p:cNvPicPr/>
          <p:nvPr/>
        </p:nvPicPr>
        <p:blipFill>
          <a:blip r:embed="rId4" cstate="print"/>
          <a:stretch>
            <a:fillRect/>
          </a:stretch>
        </p:blipFill>
        <p:spPr>
          <a:xfrm>
            <a:off x="1440790" y="2256457"/>
            <a:ext cx="492435" cy="393817"/>
          </a:xfrm>
          <a:prstGeom prst="rect">
            <a:avLst/>
          </a:prstGeom>
          <a:noFill/>
          <a:ln w="76200">
            <a:noFill/>
          </a:ln>
        </p:spPr>
      </p:pic>
      <p:sp>
        <p:nvSpPr>
          <p:cNvPr id="7" name="object 10"/>
          <p:cNvSpPr txBox="1"/>
          <p:nvPr/>
        </p:nvSpPr>
        <p:spPr>
          <a:xfrm>
            <a:off x="2271313" y="2140182"/>
            <a:ext cx="6013969" cy="3475952"/>
          </a:xfrm>
          <a:prstGeom prst="rect">
            <a:avLst/>
          </a:prstGeom>
          <a:ln w="76200">
            <a:noFill/>
          </a:ln>
        </p:spPr>
        <p:txBody>
          <a:bodyPr vert="horz" wrap="square" lIns="0" tIns="13335" rIns="0" bIns="0" rtlCol="0">
            <a:spAutoFit/>
          </a:bodyPr>
          <a:lstStyle/>
          <a:p>
            <a:pPr algn="just">
              <a:lnSpc>
                <a:spcPct val="150000"/>
              </a:lnSpc>
            </a:pPr>
            <a:r>
              <a:rPr lang="en-GB" sz="2500" dirty="0">
                <a:solidFill>
                  <a:schemeClr val="bg1"/>
                </a:solidFill>
                <a:latin typeface="Comic Sans MS" panose="030F0702030302020204" pitchFamily="66" charset="0"/>
              </a:rPr>
              <a:t>1. Heart disease remains one of the leading causes of death worldwide. Many patients fail to receive early warnings because identifying risk manually requires experience, time, and careful analysis of multiple health indicators.</a:t>
            </a:r>
          </a:p>
        </p:txBody>
      </p:sp>
      <p:sp>
        <p:nvSpPr>
          <p:cNvPr id="17" name="object 12"/>
          <p:cNvSpPr/>
          <p:nvPr/>
        </p:nvSpPr>
        <p:spPr>
          <a:xfrm>
            <a:off x="9168180" y="1976307"/>
            <a:ext cx="7690397" cy="4278556"/>
          </a:xfrm>
          <a:custGeom>
            <a:avLst/>
            <a:gdLst/>
            <a:ahLst/>
            <a:cxnLst/>
            <a:rect l="l" t="t" r="r" b="b"/>
            <a:pathLst>
              <a:path w="3816984" h="2486660">
                <a:moveTo>
                  <a:pt x="3737356" y="0"/>
                </a:moveTo>
                <a:lnTo>
                  <a:pt x="79375" y="0"/>
                </a:lnTo>
                <a:lnTo>
                  <a:pt x="48488" y="6240"/>
                </a:lnTo>
                <a:lnTo>
                  <a:pt x="23256" y="23256"/>
                </a:lnTo>
                <a:lnTo>
                  <a:pt x="6240" y="48488"/>
                </a:lnTo>
                <a:lnTo>
                  <a:pt x="0" y="79375"/>
                </a:lnTo>
                <a:lnTo>
                  <a:pt x="0" y="2407285"/>
                </a:lnTo>
                <a:lnTo>
                  <a:pt x="6240" y="2438171"/>
                </a:lnTo>
                <a:lnTo>
                  <a:pt x="23256" y="2463403"/>
                </a:lnTo>
                <a:lnTo>
                  <a:pt x="48488" y="2480419"/>
                </a:lnTo>
                <a:lnTo>
                  <a:pt x="79375" y="2486660"/>
                </a:lnTo>
                <a:lnTo>
                  <a:pt x="3737356" y="2486660"/>
                </a:lnTo>
                <a:lnTo>
                  <a:pt x="3768242" y="2480419"/>
                </a:lnTo>
                <a:lnTo>
                  <a:pt x="3793474" y="2463403"/>
                </a:lnTo>
                <a:lnTo>
                  <a:pt x="3810490" y="2438171"/>
                </a:lnTo>
                <a:lnTo>
                  <a:pt x="3816731" y="2407285"/>
                </a:lnTo>
                <a:lnTo>
                  <a:pt x="3816731" y="79375"/>
                </a:lnTo>
                <a:lnTo>
                  <a:pt x="3810490" y="48488"/>
                </a:lnTo>
                <a:lnTo>
                  <a:pt x="3793474" y="23256"/>
                </a:lnTo>
                <a:lnTo>
                  <a:pt x="3768242" y="6240"/>
                </a:lnTo>
                <a:lnTo>
                  <a:pt x="3737356" y="0"/>
                </a:lnTo>
                <a:close/>
              </a:path>
            </a:pathLst>
          </a:custGeom>
          <a:noFill/>
          <a:ln w="76200">
            <a:solidFill>
              <a:schemeClr val="tx1"/>
            </a:solidFill>
          </a:ln>
        </p:spPr>
        <p:txBody>
          <a:bodyPr wrap="square" lIns="0" tIns="0" rIns="0" bIns="0" rtlCol="0"/>
          <a:lstStyle/>
          <a:p>
            <a:endParaRPr/>
          </a:p>
        </p:txBody>
      </p:sp>
      <p:sp>
        <p:nvSpPr>
          <p:cNvPr id="18" name="object 13"/>
          <p:cNvSpPr/>
          <p:nvPr/>
        </p:nvSpPr>
        <p:spPr>
          <a:xfrm>
            <a:off x="9168180" y="1976307"/>
            <a:ext cx="7690397" cy="4278556"/>
          </a:xfrm>
          <a:custGeom>
            <a:avLst/>
            <a:gdLst/>
            <a:ahLst/>
            <a:cxnLst/>
            <a:rect l="l" t="t" r="r" b="b"/>
            <a:pathLst>
              <a:path w="3816984" h="2486660">
                <a:moveTo>
                  <a:pt x="0" y="79375"/>
                </a:moveTo>
                <a:lnTo>
                  <a:pt x="6240" y="48488"/>
                </a:lnTo>
                <a:lnTo>
                  <a:pt x="23256" y="23256"/>
                </a:lnTo>
                <a:lnTo>
                  <a:pt x="48488" y="6240"/>
                </a:lnTo>
                <a:lnTo>
                  <a:pt x="79375" y="0"/>
                </a:lnTo>
                <a:lnTo>
                  <a:pt x="3737356" y="0"/>
                </a:lnTo>
                <a:lnTo>
                  <a:pt x="3768242" y="6240"/>
                </a:lnTo>
                <a:lnTo>
                  <a:pt x="3793474" y="23256"/>
                </a:lnTo>
                <a:lnTo>
                  <a:pt x="3810490" y="48488"/>
                </a:lnTo>
                <a:lnTo>
                  <a:pt x="3816731" y="79375"/>
                </a:lnTo>
                <a:lnTo>
                  <a:pt x="3816731" y="2407285"/>
                </a:lnTo>
                <a:lnTo>
                  <a:pt x="3810490" y="2438171"/>
                </a:lnTo>
                <a:lnTo>
                  <a:pt x="3793474" y="2463403"/>
                </a:lnTo>
                <a:lnTo>
                  <a:pt x="3768242" y="2480419"/>
                </a:lnTo>
                <a:lnTo>
                  <a:pt x="3737356" y="2486660"/>
                </a:lnTo>
                <a:lnTo>
                  <a:pt x="79375" y="2486660"/>
                </a:lnTo>
                <a:lnTo>
                  <a:pt x="48488" y="2480419"/>
                </a:lnTo>
                <a:lnTo>
                  <a:pt x="23256" y="2463403"/>
                </a:lnTo>
                <a:lnTo>
                  <a:pt x="6240" y="2438171"/>
                </a:lnTo>
                <a:lnTo>
                  <a:pt x="0" y="2407285"/>
                </a:lnTo>
                <a:lnTo>
                  <a:pt x="0" y="79375"/>
                </a:lnTo>
                <a:close/>
              </a:path>
            </a:pathLst>
          </a:custGeom>
          <a:noFill/>
          <a:ln w="76200">
            <a:solidFill>
              <a:srgbClr val="8D2323"/>
            </a:solidFill>
          </a:ln>
        </p:spPr>
        <p:txBody>
          <a:bodyPr wrap="square" lIns="0" tIns="0" rIns="0" bIns="0" rtlCol="0"/>
          <a:lstStyle/>
          <a:p>
            <a:endParaRPr/>
          </a:p>
        </p:txBody>
      </p:sp>
      <p:pic>
        <p:nvPicPr>
          <p:cNvPr id="20" name="object 15"/>
          <p:cNvPicPr/>
          <p:nvPr/>
        </p:nvPicPr>
        <p:blipFill>
          <a:blip r:embed="rId5" cstate="print"/>
          <a:stretch>
            <a:fillRect/>
          </a:stretch>
        </p:blipFill>
        <p:spPr>
          <a:xfrm>
            <a:off x="9466245" y="2256290"/>
            <a:ext cx="492195" cy="418671"/>
          </a:xfrm>
          <a:prstGeom prst="rect">
            <a:avLst/>
          </a:prstGeom>
          <a:noFill/>
          <a:ln w="76200">
            <a:noFill/>
          </a:ln>
        </p:spPr>
      </p:pic>
      <p:sp>
        <p:nvSpPr>
          <p:cNvPr id="9" name="object 16"/>
          <p:cNvSpPr txBox="1"/>
          <p:nvPr/>
        </p:nvSpPr>
        <p:spPr>
          <a:xfrm>
            <a:off x="10157627" y="2082126"/>
            <a:ext cx="6258029" cy="3989234"/>
          </a:xfrm>
          <a:prstGeom prst="rect">
            <a:avLst/>
          </a:prstGeom>
          <a:ln w="76200">
            <a:noFill/>
          </a:ln>
        </p:spPr>
        <p:txBody>
          <a:bodyPr vert="horz" wrap="square" lIns="0" tIns="13335" rIns="0" bIns="0" rtlCol="0">
            <a:spAutoFit/>
          </a:bodyPr>
          <a:lstStyle/>
          <a:p>
            <a:pPr algn="just">
              <a:lnSpc>
                <a:spcPct val="150000"/>
              </a:lnSpc>
            </a:pPr>
            <a:r>
              <a:rPr lang="en-GB" sz="2500" dirty="0">
                <a:solidFill>
                  <a:schemeClr val="bg1"/>
                </a:solidFill>
                <a:latin typeface="Comic Sans MS" panose="030F0702030302020204" pitchFamily="66" charset="0"/>
              </a:rPr>
              <a:t>2. Machine learning helps automate this process by learning patterns from historical medical data. This project builds a Heart Disease Classification Model that predicts whether a person is at risk of developing heart disease based on several medical attributes</a:t>
            </a:r>
            <a:r>
              <a:rPr lang="en-GB" sz="2500" dirty="0" smtClean="0">
                <a:solidFill>
                  <a:schemeClr val="bg1"/>
                </a:solidFill>
                <a:latin typeface="Comic Sans MS" panose="030F0702030302020204" pitchFamily="66" charset="0"/>
              </a:rPr>
              <a:t>.</a:t>
            </a:r>
            <a:endParaRPr lang="en-GB" sz="2500" dirty="0">
              <a:solidFill>
                <a:schemeClr val="bg1"/>
              </a:solidFill>
              <a:latin typeface="Comic Sans MS" panose="030F0702030302020204" pitchFamily="66" charset="0"/>
            </a:endParaRPr>
          </a:p>
        </p:txBody>
      </p:sp>
      <p:sp>
        <p:nvSpPr>
          <p:cNvPr id="12" name="object 18"/>
          <p:cNvSpPr/>
          <p:nvPr/>
        </p:nvSpPr>
        <p:spPr>
          <a:xfrm>
            <a:off x="1098059" y="6579798"/>
            <a:ext cx="15760773" cy="3225306"/>
          </a:xfrm>
          <a:custGeom>
            <a:avLst/>
            <a:gdLst/>
            <a:ahLst/>
            <a:cxnLst/>
            <a:rect l="l" t="t" r="r" b="b"/>
            <a:pathLst>
              <a:path w="7822565" h="1874520">
                <a:moveTo>
                  <a:pt x="7742809" y="0"/>
                </a:moveTo>
                <a:lnTo>
                  <a:pt x="79375" y="0"/>
                </a:lnTo>
                <a:lnTo>
                  <a:pt x="48488" y="6240"/>
                </a:lnTo>
                <a:lnTo>
                  <a:pt x="23256" y="23256"/>
                </a:lnTo>
                <a:lnTo>
                  <a:pt x="6240" y="48488"/>
                </a:lnTo>
                <a:lnTo>
                  <a:pt x="0" y="79375"/>
                </a:lnTo>
                <a:lnTo>
                  <a:pt x="0" y="1794713"/>
                </a:lnTo>
                <a:lnTo>
                  <a:pt x="6240" y="1825586"/>
                </a:lnTo>
                <a:lnTo>
                  <a:pt x="23256" y="1850801"/>
                </a:lnTo>
                <a:lnTo>
                  <a:pt x="48488" y="1867802"/>
                </a:lnTo>
                <a:lnTo>
                  <a:pt x="79375" y="1874037"/>
                </a:lnTo>
                <a:lnTo>
                  <a:pt x="7742809" y="1874037"/>
                </a:lnTo>
                <a:lnTo>
                  <a:pt x="7773695" y="1867802"/>
                </a:lnTo>
                <a:lnTo>
                  <a:pt x="7798927" y="1850801"/>
                </a:lnTo>
                <a:lnTo>
                  <a:pt x="7815943" y="1825586"/>
                </a:lnTo>
                <a:lnTo>
                  <a:pt x="7822184" y="1794713"/>
                </a:lnTo>
                <a:lnTo>
                  <a:pt x="7822184" y="79375"/>
                </a:lnTo>
                <a:lnTo>
                  <a:pt x="7815943" y="48488"/>
                </a:lnTo>
                <a:lnTo>
                  <a:pt x="7798927" y="23256"/>
                </a:lnTo>
                <a:lnTo>
                  <a:pt x="7773695" y="6240"/>
                </a:lnTo>
                <a:lnTo>
                  <a:pt x="7742809" y="0"/>
                </a:lnTo>
                <a:close/>
              </a:path>
            </a:pathLst>
          </a:custGeom>
          <a:noFill/>
          <a:ln w="76200">
            <a:solidFill>
              <a:schemeClr val="tx1"/>
            </a:solidFill>
          </a:ln>
        </p:spPr>
        <p:txBody>
          <a:bodyPr wrap="square" lIns="0" tIns="0" rIns="0" bIns="0" rtlCol="0"/>
          <a:lstStyle/>
          <a:p>
            <a:endParaRPr/>
          </a:p>
        </p:txBody>
      </p:sp>
      <p:sp>
        <p:nvSpPr>
          <p:cNvPr id="14" name="object 19"/>
          <p:cNvSpPr/>
          <p:nvPr/>
        </p:nvSpPr>
        <p:spPr>
          <a:xfrm>
            <a:off x="1098059" y="6579798"/>
            <a:ext cx="15760773" cy="3225306"/>
          </a:xfrm>
          <a:custGeom>
            <a:avLst/>
            <a:gdLst/>
            <a:ahLst/>
            <a:cxnLst/>
            <a:rect l="l" t="t" r="r" b="b"/>
            <a:pathLst>
              <a:path w="7822565" h="1874520">
                <a:moveTo>
                  <a:pt x="0" y="79375"/>
                </a:moveTo>
                <a:lnTo>
                  <a:pt x="6240" y="48488"/>
                </a:lnTo>
                <a:lnTo>
                  <a:pt x="23256" y="23256"/>
                </a:lnTo>
                <a:lnTo>
                  <a:pt x="48488" y="6240"/>
                </a:lnTo>
                <a:lnTo>
                  <a:pt x="79375" y="0"/>
                </a:lnTo>
                <a:lnTo>
                  <a:pt x="7742809" y="0"/>
                </a:lnTo>
                <a:lnTo>
                  <a:pt x="7773695" y="6240"/>
                </a:lnTo>
                <a:lnTo>
                  <a:pt x="7798927" y="23256"/>
                </a:lnTo>
                <a:lnTo>
                  <a:pt x="7815943" y="48488"/>
                </a:lnTo>
                <a:lnTo>
                  <a:pt x="7822184" y="79375"/>
                </a:lnTo>
                <a:lnTo>
                  <a:pt x="7822184" y="1794713"/>
                </a:lnTo>
                <a:lnTo>
                  <a:pt x="7815943" y="1825586"/>
                </a:lnTo>
                <a:lnTo>
                  <a:pt x="7798927" y="1850801"/>
                </a:lnTo>
                <a:lnTo>
                  <a:pt x="7773695" y="1867802"/>
                </a:lnTo>
                <a:lnTo>
                  <a:pt x="7742809" y="1874037"/>
                </a:lnTo>
                <a:lnTo>
                  <a:pt x="79375" y="1874037"/>
                </a:lnTo>
                <a:lnTo>
                  <a:pt x="48488" y="1867802"/>
                </a:lnTo>
                <a:lnTo>
                  <a:pt x="23256" y="1850801"/>
                </a:lnTo>
                <a:lnTo>
                  <a:pt x="6240" y="1825586"/>
                </a:lnTo>
                <a:lnTo>
                  <a:pt x="0" y="1794713"/>
                </a:lnTo>
                <a:lnTo>
                  <a:pt x="0" y="79375"/>
                </a:lnTo>
                <a:close/>
              </a:path>
            </a:pathLst>
          </a:custGeom>
          <a:noFill/>
          <a:ln w="76200">
            <a:solidFill>
              <a:srgbClr val="8D2323"/>
            </a:solidFill>
          </a:ln>
        </p:spPr>
        <p:txBody>
          <a:bodyPr wrap="square" lIns="0" tIns="0" rIns="0" bIns="0" rtlCol="0"/>
          <a:lstStyle/>
          <a:p>
            <a:endParaRPr/>
          </a:p>
        </p:txBody>
      </p:sp>
      <p:pic>
        <p:nvPicPr>
          <p:cNvPr id="16" name="object 21"/>
          <p:cNvPicPr/>
          <p:nvPr/>
        </p:nvPicPr>
        <p:blipFill>
          <a:blip r:embed="rId6" cstate="print"/>
          <a:stretch>
            <a:fillRect/>
          </a:stretch>
        </p:blipFill>
        <p:spPr>
          <a:xfrm>
            <a:off x="1409283" y="6861598"/>
            <a:ext cx="492502" cy="382267"/>
          </a:xfrm>
          <a:prstGeom prst="rect">
            <a:avLst/>
          </a:prstGeom>
          <a:noFill/>
          <a:ln w="76200">
            <a:noFill/>
          </a:ln>
        </p:spPr>
      </p:pic>
      <p:sp>
        <p:nvSpPr>
          <p:cNvPr id="11" name="object 22"/>
          <p:cNvSpPr txBox="1"/>
          <p:nvPr/>
        </p:nvSpPr>
        <p:spPr>
          <a:xfrm>
            <a:off x="2300096" y="6699949"/>
            <a:ext cx="14115559" cy="2898870"/>
          </a:xfrm>
          <a:prstGeom prst="rect">
            <a:avLst/>
          </a:prstGeom>
        </p:spPr>
        <p:txBody>
          <a:bodyPr vert="horz" wrap="square" lIns="0" tIns="13335" rIns="0" bIns="0" rtlCol="0">
            <a:spAutoFit/>
          </a:bodyPr>
          <a:lstStyle/>
          <a:p>
            <a:pPr algn="just">
              <a:lnSpc>
                <a:spcPct val="150000"/>
              </a:lnSpc>
            </a:pPr>
            <a:r>
              <a:rPr lang="en-GB" sz="2500" dirty="0">
                <a:solidFill>
                  <a:schemeClr val="bg1"/>
                </a:solidFill>
                <a:latin typeface="Comic Sans MS" panose="030F0702030302020204" pitchFamily="66" charset="0"/>
              </a:rPr>
              <a:t>3. The dataset typically includes features such as:</a:t>
            </a:r>
          </a:p>
          <a:p>
            <a:pPr algn="just">
              <a:lnSpc>
                <a:spcPct val="150000"/>
              </a:lnSpc>
            </a:pPr>
            <a:r>
              <a:rPr lang="en-GB" sz="2500" dirty="0">
                <a:solidFill>
                  <a:schemeClr val="bg1"/>
                </a:solidFill>
                <a:latin typeface="Comic Sans MS" panose="030F0702030302020204" pitchFamily="66" charset="0"/>
              </a:rPr>
              <a:t>(</a:t>
            </a:r>
            <a:r>
              <a:rPr lang="en-GB" sz="2500" dirty="0" err="1">
                <a:solidFill>
                  <a:schemeClr val="bg1"/>
                </a:solidFill>
                <a:latin typeface="Comic Sans MS" panose="030F0702030302020204" pitchFamily="66" charset="0"/>
              </a:rPr>
              <a:t>i</a:t>
            </a:r>
            <a:r>
              <a:rPr lang="en-GB" sz="2500" dirty="0">
                <a:solidFill>
                  <a:schemeClr val="bg1"/>
                </a:solidFill>
                <a:latin typeface="Comic Sans MS" panose="030F0702030302020204" pitchFamily="66" charset="0"/>
              </a:rPr>
              <a:t>) Age				(ii) Sex					(iii) Chest Pain Type	</a:t>
            </a:r>
          </a:p>
          <a:p>
            <a:pPr algn="just">
              <a:lnSpc>
                <a:spcPct val="150000"/>
              </a:lnSpc>
            </a:pPr>
            <a:r>
              <a:rPr lang="en-GB" sz="2500" dirty="0">
                <a:solidFill>
                  <a:schemeClr val="bg1"/>
                </a:solidFill>
                <a:latin typeface="Comic Sans MS" panose="030F0702030302020204" pitchFamily="66" charset="0"/>
              </a:rPr>
              <a:t>(iv) Resting Blood Pressure	</a:t>
            </a:r>
            <a:r>
              <a:rPr lang="en-GB" sz="2500" dirty="0" smtClean="0">
                <a:solidFill>
                  <a:schemeClr val="bg1"/>
                </a:solidFill>
                <a:latin typeface="Comic Sans MS" panose="030F0702030302020204" pitchFamily="66" charset="0"/>
              </a:rPr>
              <a:t>(</a:t>
            </a:r>
            <a:r>
              <a:rPr lang="en-GB" sz="2500" dirty="0">
                <a:solidFill>
                  <a:schemeClr val="bg1"/>
                </a:solidFill>
                <a:latin typeface="Comic Sans MS" panose="030F0702030302020204" pitchFamily="66" charset="0"/>
              </a:rPr>
              <a:t>v) Cholesterol Level			(vi) Fasting Blood Sugar</a:t>
            </a:r>
          </a:p>
          <a:p>
            <a:pPr algn="just">
              <a:lnSpc>
                <a:spcPct val="150000"/>
              </a:lnSpc>
            </a:pPr>
            <a:r>
              <a:rPr lang="en-GB" sz="2500" dirty="0">
                <a:solidFill>
                  <a:schemeClr val="bg1"/>
                </a:solidFill>
                <a:latin typeface="Comic Sans MS" panose="030F0702030302020204" pitchFamily="66" charset="0"/>
              </a:rPr>
              <a:t>(vii) ECG Results			</a:t>
            </a:r>
            <a:r>
              <a:rPr lang="en-GB" sz="2500" dirty="0" smtClean="0">
                <a:solidFill>
                  <a:schemeClr val="bg1"/>
                </a:solidFill>
                <a:latin typeface="Comic Sans MS" panose="030F0702030302020204" pitchFamily="66" charset="0"/>
              </a:rPr>
              <a:t>(</a:t>
            </a:r>
            <a:r>
              <a:rPr lang="en-GB" sz="2500" dirty="0">
                <a:solidFill>
                  <a:schemeClr val="bg1"/>
                </a:solidFill>
                <a:latin typeface="Comic Sans MS" panose="030F0702030302020204" pitchFamily="66" charset="0"/>
              </a:rPr>
              <a:t>viii) Max Heart Rate Achieved</a:t>
            </a:r>
          </a:p>
          <a:p>
            <a:pPr algn="just">
              <a:lnSpc>
                <a:spcPct val="150000"/>
              </a:lnSpc>
            </a:pPr>
            <a:r>
              <a:rPr lang="en-GB" sz="2500" dirty="0">
                <a:solidFill>
                  <a:schemeClr val="bg1"/>
                </a:solidFill>
                <a:latin typeface="Comic Sans MS" panose="030F0702030302020204" pitchFamily="66" charset="0"/>
              </a:rPr>
              <a:t>This makes the model extremely useful for early screening and preventive healthcare.</a:t>
            </a:r>
          </a:p>
        </p:txBody>
      </p:sp>
      <p:sp>
        <p:nvSpPr>
          <p:cNvPr id="93" name="Google Shape;93;p14"/>
          <p:cNvSpPr txBox="1"/>
          <p:nvPr/>
        </p:nvSpPr>
        <p:spPr>
          <a:xfrm>
            <a:off x="6248399" y="566583"/>
            <a:ext cx="8094617" cy="1107996"/>
          </a:xfrm>
          <a:prstGeom prst="rect">
            <a:avLst/>
          </a:prstGeom>
          <a:noFill/>
          <a:ln>
            <a:noFill/>
          </a:ln>
        </p:spPr>
        <p:txBody>
          <a:bodyPr spcFirstLastPara="1" wrap="square" lIns="0" tIns="0" rIns="0" bIns="0" anchor="t" anchorCtr="0">
            <a:spAutoFit/>
          </a:bodyPr>
          <a:lstStyle/>
          <a:p>
            <a:pPr marL="0" marR="0" lvl="0" indent="0" algn="l" rtl="0">
              <a:lnSpc>
                <a:spcPct val="90125"/>
              </a:lnSpc>
              <a:spcBef>
                <a:spcPts val="0"/>
              </a:spcBef>
              <a:spcAft>
                <a:spcPts val="0"/>
              </a:spcAft>
              <a:buNone/>
            </a:pPr>
            <a:r>
              <a:rPr lang="en-US" sz="8000" b="1" dirty="0">
                <a:solidFill>
                  <a:schemeClr val="lt1"/>
                </a:solidFill>
                <a:latin typeface="Ink Free" panose="03080402000500000000" pitchFamily="66" charset="0"/>
                <a:ea typeface="Impact"/>
                <a:cs typeface="MV Boli" panose="02000500030200090000" pitchFamily="2" charset="0"/>
                <a:sym typeface="Impact"/>
              </a:rPr>
              <a:t>Introduction</a:t>
            </a:r>
            <a:endParaRPr sz="1100" b="1" dirty="0">
              <a:latin typeface="Ink Free" panose="03080402000500000000" pitchFamily="66" charset="0"/>
              <a:cs typeface="MV Boli" panose="02000500030200090000" pitchFamily="2" charset="0"/>
            </a:endParaRPr>
          </a:p>
        </p:txBody>
      </p:sp>
      <p:sp>
        <p:nvSpPr>
          <p:cNvPr id="94" name="Google Shape;94;p14"/>
          <p:cNvSpPr/>
          <p:nvPr/>
        </p:nvSpPr>
        <p:spPr>
          <a:xfrm>
            <a:off x="13253358" y="3162538"/>
            <a:ext cx="16516350" cy="8485066"/>
          </a:xfrm>
          <a:prstGeom prst="rect">
            <a:avLst/>
          </a:prstGeom>
          <a:noFill/>
          <a:ln>
            <a:noFill/>
          </a:ln>
        </p:spPr>
        <p:txBody>
          <a:bodyPr spcFirstLastPara="1" wrap="square" lIns="91425" tIns="45700" rIns="91425" bIns="45700" anchor="t" anchorCtr="0">
            <a:noAutofit/>
          </a:bodyPr>
          <a:lstStyle/>
          <a:p>
            <a:pPr algn="just">
              <a:lnSpc>
                <a:spcPct val="150000"/>
              </a:lnSpc>
            </a:pPr>
            <a:endParaRPr lang="en-GB" sz="2800" dirty="0">
              <a:solidFill>
                <a:srgbClr val="FF0000"/>
              </a:solidFill>
              <a:latin typeface="Comic Sans MS" panose="030F0702030302020204" pitchFamily="66"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3"/>
                                        </p:tgtEl>
                                        <p:attrNameLst>
                                          <p:attrName>style.visibility</p:attrName>
                                        </p:attrNameLst>
                                      </p:cBhvr>
                                      <p:to>
                                        <p:strVal val="visible"/>
                                      </p:to>
                                    </p:set>
                                    <p:anim calcmode="lin" valueType="num">
                                      <p:cBhvr additive="base">
                                        <p:cTn id="7" dur="500"/>
                                        <p:tgtEl>
                                          <p:spTgt spid="93"/>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94"/>
                                        </p:tgtEl>
                                        <p:attrNameLst>
                                          <p:attrName>style.visibility</p:attrName>
                                        </p:attrNameLst>
                                      </p:cBhvr>
                                      <p:to>
                                        <p:strVal val="visible"/>
                                      </p:to>
                                    </p:set>
                                    <p:anim calcmode="lin" valueType="num">
                                      <p:cBhvr additive="base">
                                        <p:cTn id="12" dur="500"/>
                                        <p:tgtEl>
                                          <p:spTgt spid="9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pic>
        <p:nvPicPr>
          <p:cNvPr id="10" name="Picture 4" descr="Cardiology: Common Causes of Heart Disorders - Florida Premier Cardiology  Boynton Beach, F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8288000" cy="10287000"/>
          </a:xfrm>
          <a:prstGeom prst="rect">
            <a:avLst/>
          </a:prstGeom>
          <a:noFill/>
          <a:extLst>
            <a:ext uri="{909E8E84-426E-40DD-AFC4-6F175D3DCCD1}">
              <a14:hiddenFill xmlns:a14="http://schemas.microsoft.com/office/drawing/2010/main">
                <a:solidFill>
                  <a:srgbClr val="FFFFFF"/>
                </a:solidFill>
              </a14:hiddenFill>
            </a:ext>
          </a:extLst>
        </p:spPr>
      </p:pic>
      <p:sp>
        <p:nvSpPr>
          <p:cNvPr id="104" name="Google Shape;104;p15"/>
          <p:cNvSpPr txBox="1"/>
          <p:nvPr/>
        </p:nvSpPr>
        <p:spPr>
          <a:xfrm>
            <a:off x="733878" y="1070429"/>
            <a:ext cx="16706850" cy="1107996"/>
          </a:xfrm>
          <a:prstGeom prst="rect">
            <a:avLst/>
          </a:prstGeom>
          <a:noFill/>
          <a:ln>
            <a:noFill/>
          </a:ln>
        </p:spPr>
        <p:txBody>
          <a:bodyPr spcFirstLastPara="1" wrap="square" lIns="0" tIns="0" rIns="0" bIns="0" anchor="t" anchorCtr="0">
            <a:spAutoFit/>
          </a:bodyPr>
          <a:lstStyle/>
          <a:p>
            <a:pPr marL="0" marR="0" lvl="0" indent="0" algn="ctr" rtl="0">
              <a:lnSpc>
                <a:spcPct val="90125"/>
              </a:lnSpc>
              <a:spcBef>
                <a:spcPts val="0"/>
              </a:spcBef>
              <a:spcAft>
                <a:spcPts val="0"/>
              </a:spcAft>
              <a:buNone/>
            </a:pPr>
            <a:r>
              <a:rPr lang="en-US" sz="8000" b="1" dirty="0" smtClean="0">
                <a:solidFill>
                  <a:schemeClr val="lt1"/>
                </a:solidFill>
                <a:latin typeface="Ink Free" panose="03080402000500000000" pitchFamily="66" charset="0"/>
                <a:ea typeface="Impact"/>
                <a:cs typeface="MV Boli" panose="02000500030200090000" pitchFamily="2" charset="0"/>
                <a:sym typeface="Impact"/>
              </a:rPr>
              <a:t>Aim of The Project</a:t>
            </a:r>
            <a:endParaRPr sz="8000" b="1" dirty="0">
              <a:solidFill>
                <a:schemeClr val="lt1"/>
              </a:solidFill>
              <a:latin typeface="Ink Free" panose="03080402000500000000" pitchFamily="66" charset="0"/>
              <a:ea typeface="Impact"/>
              <a:cs typeface="MV Boli" panose="02000500030200090000" pitchFamily="2" charset="0"/>
              <a:sym typeface="Impact"/>
            </a:endParaRPr>
          </a:p>
        </p:txBody>
      </p:sp>
      <p:grpSp>
        <p:nvGrpSpPr>
          <p:cNvPr id="48" name="Group 47"/>
          <p:cNvGrpSpPr/>
          <p:nvPr/>
        </p:nvGrpSpPr>
        <p:grpSpPr>
          <a:xfrm>
            <a:off x="1503133" y="2711699"/>
            <a:ext cx="15144750" cy="5590471"/>
            <a:chOff x="552450" y="6042880"/>
            <a:chExt cx="16792118" cy="4964451"/>
          </a:xfrm>
        </p:grpSpPr>
        <p:sp>
          <p:nvSpPr>
            <p:cNvPr id="6" name="object 4"/>
            <p:cNvSpPr txBox="1"/>
            <p:nvPr/>
          </p:nvSpPr>
          <p:spPr>
            <a:xfrm>
              <a:off x="655770" y="6042880"/>
              <a:ext cx="16633560" cy="1234633"/>
            </a:xfrm>
            <a:prstGeom prst="rect">
              <a:avLst/>
            </a:prstGeom>
          </p:spPr>
          <p:txBody>
            <a:bodyPr vert="horz" wrap="square" lIns="0" tIns="13335" rIns="0" bIns="0" rtlCol="0">
              <a:spAutoFit/>
            </a:bodyPr>
            <a:lstStyle/>
            <a:p>
              <a:pPr algn="ctr">
                <a:lnSpc>
                  <a:spcPct val="150000"/>
                </a:lnSpc>
              </a:pPr>
              <a:r>
                <a:rPr lang="en-GB" sz="2800" dirty="0">
                  <a:solidFill>
                    <a:schemeClr val="bg1"/>
                  </a:solidFill>
                  <a:latin typeface="Comic Sans MS" panose="030F0702030302020204" pitchFamily="66" charset="0"/>
                </a:rPr>
                <a:t>The primary goal of this project is to develop an accurate and reliable machine learning system that predicts the risk of heart disease using medical parameters.</a:t>
              </a:r>
            </a:p>
          </p:txBody>
        </p:sp>
        <p:grpSp>
          <p:nvGrpSpPr>
            <p:cNvPr id="34" name="Group 33"/>
            <p:cNvGrpSpPr/>
            <p:nvPr/>
          </p:nvGrpSpPr>
          <p:grpSpPr>
            <a:xfrm>
              <a:off x="552450" y="7521115"/>
              <a:ext cx="16792118" cy="2044064"/>
              <a:chOff x="552450" y="7521115"/>
              <a:chExt cx="16792118" cy="2044064"/>
            </a:xfrm>
          </p:grpSpPr>
          <p:grpSp>
            <p:nvGrpSpPr>
              <p:cNvPr id="7" name="object 5"/>
              <p:cNvGrpSpPr/>
              <p:nvPr/>
            </p:nvGrpSpPr>
            <p:grpSpPr>
              <a:xfrm>
                <a:off x="552450" y="7521115"/>
                <a:ext cx="3244556" cy="2044064"/>
                <a:chOff x="724966" y="5608192"/>
                <a:chExt cx="4275455" cy="2044064"/>
              </a:xfrm>
            </p:grpSpPr>
            <p:sp>
              <p:nvSpPr>
                <p:cNvPr id="20" name="object 6"/>
                <p:cNvSpPr/>
                <p:nvPr/>
              </p:nvSpPr>
              <p:spPr>
                <a:xfrm>
                  <a:off x="755446" y="5623432"/>
                  <a:ext cx="4229735" cy="2013585"/>
                </a:xfrm>
                <a:custGeom>
                  <a:avLst/>
                  <a:gdLst/>
                  <a:ahLst/>
                  <a:cxnLst/>
                  <a:rect l="l" t="t" r="r" b="b"/>
                  <a:pathLst>
                    <a:path w="4229735" h="2013584">
                      <a:moveTo>
                        <a:pt x="4082872" y="0"/>
                      </a:moveTo>
                      <a:lnTo>
                        <a:pt x="146304" y="0"/>
                      </a:lnTo>
                      <a:lnTo>
                        <a:pt x="100062" y="7461"/>
                      </a:lnTo>
                      <a:lnTo>
                        <a:pt x="59900" y="28236"/>
                      </a:lnTo>
                      <a:lnTo>
                        <a:pt x="28229" y="59911"/>
                      </a:lnTo>
                      <a:lnTo>
                        <a:pt x="7459" y="100071"/>
                      </a:lnTo>
                      <a:lnTo>
                        <a:pt x="0" y="146304"/>
                      </a:lnTo>
                      <a:lnTo>
                        <a:pt x="0" y="1866696"/>
                      </a:lnTo>
                      <a:lnTo>
                        <a:pt x="7459" y="1912938"/>
                      </a:lnTo>
                      <a:lnTo>
                        <a:pt x="28229" y="1953100"/>
                      </a:lnTo>
                      <a:lnTo>
                        <a:pt x="59900" y="1984771"/>
                      </a:lnTo>
                      <a:lnTo>
                        <a:pt x="100062" y="2005541"/>
                      </a:lnTo>
                      <a:lnTo>
                        <a:pt x="146304" y="2013000"/>
                      </a:lnTo>
                      <a:lnTo>
                        <a:pt x="4082872" y="2013000"/>
                      </a:lnTo>
                      <a:lnTo>
                        <a:pt x="4129153" y="2005541"/>
                      </a:lnTo>
                      <a:lnTo>
                        <a:pt x="4169319" y="1984771"/>
                      </a:lnTo>
                      <a:lnTo>
                        <a:pt x="4200976" y="1953100"/>
                      </a:lnTo>
                      <a:lnTo>
                        <a:pt x="4221726" y="1912938"/>
                      </a:lnTo>
                      <a:lnTo>
                        <a:pt x="4229176" y="1866696"/>
                      </a:lnTo>
                      <a:lnTo>
                        <a:pt x="4229176" y="146304"/>
                      </a:lnTo>
                      <a:lnTo>
                        <a:pt x="4221726" y="100071"/>
                      </a:lnTo>
                      <a:lnTo>
                        <a:pt x="4200976" y="59911"/>
                      </a:lnTo>
                      <a:lnTo>
                        <a:pt x="4169319" y="28236"/>
                      </a:lnTo>
                      <a:lnTo>
                        <a:pt x="4129153" y="7461"/>
                      </a:lnTo>
                      <a:lnTo>
                        <a:pt x="4082872" y="0"/>
                      </a:lnTo>
                      <a:close/>
                    </a:path>
                  </a:pathLst>
                </a:custGeom>
                <a:solidFill>
                  <a:srgbClr val="090909">
                    <a:alpha val="94900"/>
                  </a:srgbClr>
                </a:solidFill>
              </p:spPr>
              <p:txBody>
                <a:bodyPr wrap="square" lIns="0" tIns="0" rIns="0" bIns="0" rtlCol="0"/>
                <a:lstStyle/>
                <a:p>
                  <a:endParaRPr/>
                </a:p>
              </p:txBody>
            </p:sp>
            <p:sp>
              <p:nvSpPr>
                <p:cNvPr id="21" name="object 7"/>
                <p:cNvSpPr/>
                <p:nvPr/>
              </p:nvSpPr>
              <p:spPr>
                <a:xfrm>
                  <a:off x="755446" y="5623432"/>
                  <a:ext cx="4229735" cy="2013585"/>
                </a:xfrm>
                <a:custGeom>
                  <a:avLst/>
                  <a:gdLst/>
                  <a:ahLst/>
                  <a:cxnLst/>
                  <a:rect l="l" t="t" r="r" b="b"/>
                  <a:pathLst>
                    <a:path w="4229735" h="2013584">
                      <a:moveTo>
                        <a:pt x="0" y="146304"/>
                      </a:moveTo>
                      <a:lnTo>
                        <a:pt x="7459" y="100071"/>
                      </a:lnTo>
                      <a:lnTo>
                        <a:pt x="28229" y="59911"/>
                      </a:lnTo>
                      <a:lnTo>
                        <a:pt x="59900" y="28236"/>
                      </a:lnTo>
                      <a:lnTo>
                        <a:pt x="100062" y="7461"/>
                      </a:lnTo>
                      <a:lnTo>
                        <a:pt x="146304" y="0"/>
                      </a:lnTo>
                      <a:lnTo>
                        <a:pt x="4082872" y="0"/>
                      </a:lnTo>
                      <a:lnTo>
                        <a:pt x="4129153" y="7461"/>
                      </a:lnTo>
                      <a:lnTo>
                        <a:pt x="4169319" y="28236"/>
                      </a:lnTo>
                      <a:lnTo>
                        <a:pt x="4200976" y="59911"/>
                      </a:lnTo>
                      <a:lnTo>
                        <a:pt x="4221726" y="100071"/>
                      </a:lnTo>
                      <a:lnTo>
                        <a:pt x="4229176" y="146304"/>
                      </a:lnTo>
                      <a:lnTo>
                        <a:pt x="4229176" y="1866696"/>
                      </a:lnTo>
                      <a:lnTo>
                        <a:pt x="4221726" y="1912938"/>
                      </a:lnTo>
                      <a:lnTo>
                        <a:pt x="4200976" y="1953100"/>
                      </a:lnTo>
                      <a:lnTo>
                        <a:pt x="4169319" y="1984771"/>
                      </a:lnTo>
                      <a:lnTo>
                        <a:pt x="4129153" y="2005541"/>
                      </a:lnTo>
                      <a:lnTo>
                        <a:pt x="4082872" y="2013000"/>
                      </a:lnTo>
                      <a:lnTo>
                        <a:pt x="146304" y="2013000"/>
                      </a:lnTo>
                      <a:lnTo>
                        <a:pt x="100062" y="2005541"/>
                      </a:lnTo>
                      <a:lnTo>
                        <a:pt x="59900" y="1984771"/>
                      </a:lnTo>
                      <a:lnTo>
                        <a:pt x="28229" y="1953100"/>
                      </a:lnTo>
                      <a:lnTo>
                        <a:pt x="7459" y="1912938"/>
                      </a:lnTo>
                      <a:lnTo>
                        <a:pt x="0" y="1866696"/>
                      </a:lnTo>
                      <a:lnTo>
                        <a:pt x="0" y="146304"/>
                      </a:lnTo>
                      <a:close/>
                    </a:path>
                  </a:pathLst>
                </a:custGeom>
                <a:ln w="30480">
                  <a:solidFill>
                    <a:srgbClr val="8D2323"/>
                  </a:solidFill>
                </a:ln>
              </p:spPr>
              <p:txBody>
                <a:bodyPr wrap="square" lIns="0" tIns="0" rIns="0" bIns="0" rtlCol="0"/>
                <a:lstStyle/>
                <a:p>
                  <a:endParaRPr/>
                </a:p>
              </p:txBody>
            </p:sp>
            <p:sp>
              <p:nvSpPr>
                <p:cNvPr id="22" name="object 8"/>
                <p:cNvSpPr/>
                <p:nvPr/>
              </p:nvSpPr>
              <p:spPr>
                <a:xfrm>
                  <a:off x="724966" y="5623432"/>
                  <a:ext cx="121920" cy="2013585"/>
                </a:xfrm>
                <a:custGeom>
                  <a:avLst/>
                  <a:gdLst/>
                  <a:ahLst/>
                  <a:cxnLst/>
                  <a:rect l="l" t="t" r="r" b="b"/>
                  <a:pathLst>
                    <a:path w="121919" h="2013584">
                      <a:moveTo>
                        <a:pt x="60959" y="0"/>
                      </a:moveTo>
                      <a:lnTo>
                        <a:pt x="37231" y="4792"/>
                      </a:lnTo>
                      <a:lnTo>
                        <a:pt x="17854" y="17859"/>
                      </a:lnTo>
                      <a:lnTo>
                        <a:pt x="4790" y="37236"/>
                      </a:lnTo>
                      <a:lnTo>
                        <a:pt x="0" y="60960"/>
                      </a:lnTo>
                      <a:lnTo>
                        <a:pt x="0" y="1952040"/>
                      </a:lnTo>
                      <a:lnTo>
                        <a:pt x="4790" y="1975769"/>
                      </a:lnTo>
                      <a:lnTo>
                        <a:pt x="17854" y="1995146"/>
                      </a:lnTo>
                      <a:lnTo>
                        <a:pt x="37231" y="2008210"/>
                      </a:lnTo>
                      <a:lnTo>
                        <a:pt x="60959" y="2013000"/>
                      </a:lnTo>
                      <a:lnTo>
                        <a:pt x="84688" y="2008210"/>
                      </a:lnTo>
                      <a:lnTo>
                        <a:pt x="104065" y="1995146"/>
                      </a:lnTo>
                      <a:lnTo>
                        <a:pt x="117129" y="1975769"/>
                      </a:lnTo>
                      <a:lnTo>
                        <a:pt x="121919" y="1952040"/>
                      </a:lnTo>
                      <a:lnTo>
                        <a:pt x="121919" y="60960"/>
                      </a:lnTo>
                      <a:lnTo>
                        <a:pt x="117129" y="37236"/>
                      </a:lnTo>
                      <a:lnTo>
                        <a:pt x="104065" y="17859"/>
                      </a:lnTo>
                      <a:lnTo>
                        <a:pt x="84688" y="4792"/>
                      </a:lnTo>
                      <a:lnTo>
                        <a:pt x="60959" y="0"/>
                      </a:lnTo>
                      <a:close/>
                    </a:path>
                  </a:pathLst>
                </a:custGeom>
                <a:solidFill>
                  <a:srgbClr val="C81212"/>
                </a:solidFill>
              </p:spPr>
              <p:txBody>
                <a:bodyPr wrap="square" lIns="0" tIns="0" rIns="0" bIns="0" rtlCol="0"/>
                <a:lstStyle/>
                <a:p>
                  <a:endParaRPr/>
                </a:p>
              </p:txBody>
            </p:sp>
          </p:grpSp>
          <p:sp>
            <p:nvSpPr>
              <p:cNvPr id="8" name="object 9"/>
              <p:cNvSpPr txBox="1"/>
              <p:nvPr/>
            </p:nvSpPr>
            <p:spPr>
              <a:xfrm>
                <a:off x="822346" y="7759113"/>
                <a:ext cx="2756404" cy="1486702"/>
              </a:xfrm>
              <a:prstGeom prst="rect">
                <a:avLst/>
              </a:prstGeom>
            </p:spPr>
            <p:txBody>
              <a:bodyPr vert="horz" wrap="square" lIns="0" tIns="12065" rIns="0" bIns="0" rtlCol="0">
                <a:spAutoFit/>
              </a:bodyPr>
              <a:lstStyle/>
              <a:p>
                <a:pPr marL="12700" algn="ctr">
                  <a:lnSpc>
                    <a:spcPct val="150000"/>
                  </a:lnSpc>
                  <a:spcBef>
                    <a:spcPts val="95"/>
                  </a:spcBef>
                </a:pPr>
                <a:r>
                  <a:rPr lang="en-GB" sz="2400" b="1" dirty="0">
                    <a:solidFill>
                      <a:schemeClr val="bg1"/>
                    </a:solidFill>
                    <a:latin typeface="Comic Sans MS" panose="030F0702030302020204" pitchFamily="66" charset="0"/>
                  </a:rPr>
                  <a:t>1. Identify high-risk patients early</a:t>
                </a:r>
                <a:endParaRPr sz="1650" dirty="0">
                  <a:latin typeface="Arial MT"/>
                  <a:cs typeface="Arial MT"/>
                </a:endParaRPr>
              </a:p>
            </p:txBody>
          </p:sp>
          <p:grpSp>
            <p:nvGrpSpPr>
              <p:cNvPr id="9" name="object 10"/>
              <p:cNvGrpSpPr/>
              <p:nvPr/>
            </p:nvGrpSpPr>
            <p:grpSpPr>
              <a:xfrm>
                <a:off x="3925728" y="7521115"/>
                <a:ext cx="3244556" cy="2044064"/>
                <a:chOff x="5170042" y="5608192"/>
                <a:chExt cx="4275455" cy="2044064"/>
              </a:xfrm>
            </p:grpSpPr>
            <p:sp>
              <p:nvSpPr>
                <p:cNvPr id="17" name="object 11"/>
                <p:cNvSpPr/>
                <p:nvPr/>
              </p:nvSpPr>
              <p:spPr>
                <a:xfrm>
                  <a:off x="5200522" y="5623432"/>
                  <a:ext cx="4229735" cy="2013585"/>
                </a:xfrm>
                <a:custGeom>
                  <a:avLst/>
                  <a:gdLst/>
                  <a:ahLst/>
                  <a:cxnLst/>
                  <a:rect l="l" t="t" r="r" b="b"/>
                  <a:pathLst>
                    <a:path w="4229734" h="2013584">
                      <a:moveTo>
                        <a:pt x="4082923" y="0"/>
                      </a:moveTo>
                      <a:lnTo>
                        <a:pt x="146303" y="0"/>
                      </a:lnTo>
                      <a:lnTo>
                        <a:pt x="100071" y="7461"/>
                      </a:lnTo>
                      <a:lnTo>
                        <a:pt x="59911" y="28236"/>
                      </a:lnTo>
                      <a:lnTo>
                        <a:pt x="28236" y="59911"/>
                      </a:lnTo>
                      <a:lnTo>
                        <a:pt x="7461" y="100071"/>
                      </a:lnTo>
                      <a:lnTo>
                        <a:pt x="0" y="146304"/>
                      </a:lnTo>
                      <a:lnTo>
                        <a:pt x="0" y="1866696"/>
                      </a:lnTo>
                      <a:lnTo>
                        <a:pt x="7461" y="1912938"/>
                      </a:lnTo>
                      <a:lnTo>
                        <a:pt x="28236" y="1953100"/>
                      </a:lnTo>
                      <a:lnTo>
                        <a:pt x="59911" y="1984771"/>
                      </a:lnTo>
                      <a:lnTo>
                        <a:pt x="100071" y="2005541"/>
                      </a:lnTo>
                      <a:lnTo>
                        <a:pt x="146303" y="2013000"/>
                      </a:lnTo>
                      <a:lnTo>
                        <a:pt x="4082923" y="2013000"/>
                      </a:lnTo>
                      <a:lnTo>
                        <a:pt x="4129155" y="2005541"/>
                      </a:lnTo>
                      <a:lnTo>
                        <a:pt x="4169315" y="1984771"/>
                      </a:lnTo>
                      <a:lnTo>
                        <a:pt x="4200990" y="1953100"/>
                      </a:lnTo>
                      <a:lnTo>
                        <a:pt x="4221765" y="1912938"/>
                      </a:lnTo>
                      <a:lnTo>
                        <a:pt x="4229227" y="1866696"/>
                      </a:lnTo>
                      <a:lnTo>
                        <a:pt x="4229227" y="146304"/>
                      </a:lnTo>
                      <a:lnTo>
                        <a:pt x="4221765" y="100071"/>
                      </a:lnTo>
                      <a:lnTo>
                        <a:pt x="4200990" y="59911"/>
                      </a:lnTo>
                      <a:lnTo>
                        <a:pt x="4169315" y="28236"/>
                      </a:lnTo>
                      <a:lnTo>
                        <a:pt x="4129155" y="7461"/>
                      </a:lnTo>
                      <a:lnTo>
                        <a:pt x="4082923" y="0"/>
                      </a:lnTo>
                      <a:close/>
                    </a:path>
                  </a:pathLst>
                </a:custGeom>
                <a:solidFill>
                  <a:srgbClr val="090909">
                    <a:alpha val="94900"/>
                  </a:srgbClr>
                </a:solidFill>
              </p:spPr>
              <p:txBody>
                <a:bodyPr wrap="square" lIns="0" tIns="0" rIns="0" bIns="0" rtlCol="0"/>
                <a:lstStyle/>
                <a:p>
                  <a:endParaRPr/>
                </a:p>
              </p:txBody>
            </p:sp>
            <p:sp>
              <p:nvSpPr>
                <p:cNvPr id="18" name="object 12"/>
                <p:cNvSpPr/>
                <p:nvPr/>
              </p:nvSpPr>
              <p:spPr>
                <a:xfrm>
                  <a:off x="5200522" y="5623432"/>
                  <a:ext cx="4229735" cy="2013585"/>
                </a:xfrm>
                <a:custGeom>
                  <a:avLst/>
                  <a:gdLst/>
                  <a:ahLst/>
                  <a:cxnLst/>
                  <a:rect l="l" t="t" r="r" b="b"/>
                  <a:pathLst>
                    <a:path w="4229734" h="2013584">
                      <a:moveTo>
                        <a:pt x="0" y="146304"/>
                      </a:moveTo>
                      <a:lnTo>
                        <a:pt x="7461" y="100071"/>
                      </a:lnTo>
                      <a:lnTo>
                        <a:pt x="28236" y="59911"/>
                      </a:lnTo>
                      <a:lnTo>
                        <a:pt x="59911" y="28236"/>
                      </a:lnTo>
                      <a:lnTo>
                        <a:pt x="100071" y="7461"/>
                      </a:lnTo>
                      <a:lnTo>
                        <a:pt x="146303" y="0"/>
                      </a:lnTo>
                      <a:lnTo>
                        <a:pt x="4082923" y="0"/>
                      </a:lnTo>
                      <a:lnTo>
                        <a:pt x="4129155" y="7461"/>
                      </a:lnTo>
                      <a:lnTo>
                        <a:pt x="4169315" y="28236"/>
                      </a:lnTo>
                      <a:lnTo>
                        <a:pt x="4200990" y="59911"/>
                      </a:lnTo>
                      <a:lnTo>
                        <a:pt x="4221765" y="100071"/>
                      </a:lnTo>
                      <a:lnTo>
                        <a:pt x="4229227" y="146304"/>
                      </a:lnTo>
                      <a:lnTo>
                        <a:pt x="4229227" y="1866696"/>
                      </a:lnTo>
                      <a:lnTo>
                        <a:pt x="4221765" y="1912938"/>
                      </a:lnTo>
                      <a:lnTo>
                        <a:pt x="4200990" y="1953100"/>
                      </a:lnTo>
                      <a:lnTo>
                        <a:pt x="4169315" y="1984771"/>
                      </a:lnTo>
                      <a:lnTo>
                        <a:pt x="4129155" y="2005541"/>
                      </a:lnTo>
                      <a:lnTo>
                        <a:pt x="4082923" y="2013000"/>
                      </a:lnTo>
                      <a:lnTo>
                        <a:pt x="146303" y="2013000"/>
                      </a:lnTo>
                      <a:lnTo>
                        <a:pt x="100071" y="2005541"/>
                      </a:lnTo>
                      <a:lnTo>
                        <a:pt x="59911" y="1984771"/>
                      </a:lnTo>
                      <a:lnTo>
                        <a:pt x="28236" y="1953100"/>
                      </a:lnTo>
                      <a:lnTo>
                        <a:pt x="7461" y="1912938"/>
                      </a:lnTo>
                      <a:lnTo>
                        <a:pt x="0" y="1866696"/>
                      </a:lnTo>
                      <a:lnTo>
                        <a:pt x="0" y="146304"/>
                      </a:lnTo>
                      <a:close/>
                    </a:path>
                  </a:pathLst>
                </a:custGeom>
                <a:ln w="30480">
                  <a:solidFill>
                    <a:srgbClr val="8D2323"/>
                  </a:solidFill>
                </a:ln>
              </p:spPr>
              <p:txBody>
                <a:bodyPr wrap="square" lIns="0" tIns="0" rIns="0" bIns="0" rtlCol="0"/>
                <a:lstStyle/>
                <a:p>
                  <a:endParaRPr/>
                </a:p>
              </p:txBody>
            </p:sp>
            <p:sp>
              <p:nvSpPr>
                <p:cNvPr id="19" name="object 13"/>
                <p:cNvSpPr/>
                <p:nvPr/>
              </p:nvSpPr>
              <p:spPr>
                <a:xfrm>
                  <a:off x="5170042" y="5623432"/>
                  <a:ext cx="121920" cy="2013585"/>
                </a:xfrm>
                <a:custGeom>
                  <a:avLst/>
                  <a:gdLst/>
                  <a:ahLst/>
                  <a:cxnLst/>
                  <a:rect l="l" t="t" r="r" b="b"/>
                  <a:pathLst>
                    <a:path w="121920" h="2013584">
                      <a:moveTo>
                        <a:pt x="60960" y="0"/>
                      </a:moveTo>
                      <a:lnTo>
                        <a:pt x="37236" y="4792"/>
                      </a:lnTo>
                      <a:lnTo>
                        <a:pt x="17859" y="17859"/>
                      </a:lnTo>
                      <a:lnTo>
                        <a:pt x="4792" y="37236"/>
                      </a:lnTo>
                      <a:lnTo>
                        <a:pt x="0" y="60960"/>
                      </a:lnTo>
                      <a:lnTo>
                        <a:pt x="0" y="1952040"/>
                      </a:lnTo>
                      <a:lnTo>
                        <a:pt x="4792" y="1975769"/>
                      </a:lnTo>
                      <a:lnTo>
                        <a:pt x="17859" y="1995146"/>
                      </a:lnTo>
                      <a:lnTo>
                        <a:pt x="37236" y="2008210"/>
                      </a:lnTo>
                      <a:lnTo>
                        <a:pt x="60960" y="2013000"/>
                      </a:lnTo>
                      <a:lnTo>
                        <a:pt x="84683" y="2008210"/>
                      </a:lnTo>
                      <a:lnTo>
                        <a:pt x="104060" y="1995146"/>
                      </a:lnTo>
                      <a:lnTo>
                        <a:pt x="117127" y="1975769"/>
                      </a:lnTo>
                      <a:lnTo>
                        <a:pt x="121920" y="1952040"/>
                      </a:lnTo>
                      <a:lnTo>
                        <a:pt x="121920" y="60960"/>
                      </a:lnTo>
                      <a:lnTo>
                        <a:pt x="117127" y="37236"/>
                      </a:lnTo>
                      <a:lnTo>
                        <a:pt x="104060" y="17859"/>
                      </a:lnTo>
                      <a:lnTo>
                        <a:pt x="84683" y="4792"/>
                      </a:lnTo>
                      <a:lnTo>
                        <a:pt x="60960" y="0"/>
                      </a:lnTo>
                      <a:close/>
                    </a:path>
                  </a:pathLst>
                </a:custGeom>
                <a:solidFill>
                  <a:srgbClr val="C81212"/>
                </a:solidFill>
              </p:spPr>
              <p:txBody>
                <a:bodyPr wrap="square" lIns="0" tIns="0" rIns="0" bIns="0" rtlCol="0"/>
                <a:lstStyle/>
                <a:p>
                  <a:endParaRPr/>
                </a:p>
              </p:txBody>
            </p:sp>
          </p:grpSp>
          <p:sp>
            <p:nvSpPr>
              <p:cNvPr id="11" name="object 14"/>
              <p:cNvSpPr txBox="1"/>
              <p:nvPr/>
            </p:nvSpPr>
            <p:spPr>
              <a:xfrm>
                <a:off x="4115509" y="7759113"/>
                <a:ext cx="2925063" cy="1486702"/>
              </a:xfrm>
              <a:prstGeom prst="rect">
                <a:avLst/>
              </a:prstGeom>
            </p:spPr>
            <p:txBody>
              <a:bodyPr vert="horz" wrap="square" lIns="0" tIns="12065" rIns="0" bIns="0" rtlCol="0">
                <a:spAutoFit/>
              </a:bodyPr>
              <a:lstStyle/>
              <a:p>
                <a:pPr marL="12700" algn="ctr">
                  <a:lnSpc>
                    <a:spcPct val="150000"/>
                  </a:lnSpc>
                  <a:spcBef>
                    <a:spcPts val="95"/>
                  </a:spcBef>
                </a:pPr>
                <a:r>
                  <a:rPr lang="en-GB" sz="2400" b="1" dirty="0">
                    <a:solidFill>
                      <a:schemeClr val="bg1"/>
                    </a:solidFill>
                    <a:latin typeface="Comic Sans MS" panose="030F0702030302020204" pitchFamily="66" charset="0"/>
                  </a:rPr>
                  <a:t>2. Support doctors in clinical decision-making</a:t>
                </a:r>
                <a:endParaRPr sz="1650" dirty="0">
                  <a:latin typeface="Arial MT"/>
                  <a:cs typeface="Arial MT"/>
                </a:endParaRPr>
              </a:p>
            </p:txBody>
          </p:sp>
          <p:grpSp>
            <p:nvGrpSpPr>
              <p:cNvPr id="2" name="Group 1"/>
              <p:cNvGrpSpPr/>
              <p:nvPr/>
            </p:nvGrpSpPr>
            <p:grpSpPr>
              <a:xfrm>
                <a:off x="7299046" y="7521115"/>
                <a:ext cx="3244556" cy="2044064"/>
                <a:chOff x="8745368" y="7521115"/>
                <a:chExt cx="3940118" cy="2044064"/>
              </a:xfrm>
            </p:grpSpPr>
            <p:grpSp>
              <p:nvGrpSpPr>
                <p:cNvPr id="12" name="object 15"/>
                <p:cNvGrpSpPr/>
                <p:nvPr/>
              </p:nvGrpSpPr>
              <p:grpSpPr>
                <a:xfrm>
                  <a:off x="8745368" y="7521115"/>
                  <a:ext cx="3940118" cy="2044064"/>
                  <a:chOff x="9615169" y="5608192"/>
                  <a:chExt cx="4275455" cy="2044064"/>
                </a:xfrm>
              </p:grpSpPr>
              <p:sp>
                <p:nvSpPr>
                  <p:cNvPr id="14" name="object 16"/>
                  <p:cNvSpPr/>
                  <p:nvPr/>
                </p:nvSpPr>
                <p:spPr>
                  <a:xfrm>
                    <a:off x="9645649" y="5623432"/>
                    <a:ext cx="4229735" cy="2013585"/>
                  </a:xfrm>
                  <a:custGeom>
                    <a:avLst/>
                    <a:gdLst/>
                    <a:ahLst/>
                    <a:cxnLst/>
                    <a:rect l="l" t="t" r="r" b="b"/>
                    <a:pathLst>
                      <a:path w="4229734" h="2013584">
                        <a:moveTo>
                          <a:pt x="4082923" y="0"/>
                        </a:moveTo>
                        <a:lnTo>
                          <a:pt x="146303" y="0"/>
                        </a:lnTo>
                        <a:lnTo>
                          <a:pt x="100023" y="7461"/>
                        </a:lnTo>
                        <a:lnTo>
                          <a:pt x="59856" y="28236"/>
                        </a:lnTo>
                        <a:lnTo>
                          <a:pt x="28200" y="59911"/>
                        </a:lnTo>
                        <a:lnTo>
                          <a:pt x="7449" y="100071"/>
                        </a:lnTo>
                        <a:lnTo>
                          <a:pt x="0" y="146304"/>
                        </a:lnTo>
                        <a:lnTo>
                          <a:pt x="0" y="1866696"/>
                        </a:lnTo>
                        <a:lnTo>
                          <a:pt x="7449" y="1912938"/>
                        </a:lnTo>
                        <a:lnTo>
                          <a:pt x="28200" y="1953100"/>
                        </a:lnTo>
                        <a:lnTo>
                          <a:pt x="59856" y="1984771"/>
                        </a:lnTo>
                        <a:lnTo>
                          <a:pt x="100023" y="2005541"/>
                        </a:lnTo>
                        <a:lnTo>
                          <a:pt x="146303" y="2013000"/>
                        </a:lnTo>
                        <a:lnTo>
                          <a:pt x="4082923" y="2013000"/>
                        </a:lnTo>
                        <a:lnTo>
                          <a:pt x="4129155" y="2005541"/>
                        </a:lnTo>
                        <a:lnTo>
                          <a:pt x="4169315" y="1984771"/>
                        </a:lnTo>
                        <a:lnTo>
                          <a:pt x="4200990" y="1953100"/>
                        </a:lnTo>
                        <a:lnTo>
                          <a:pt x="4221765" y="1912938"/>
                        </a:lnTo>
                        <a:lnTo>
                          <a:pt x="4229227" y="1866696"/>
                        </a:lnTo>
                        <a:lnTo>
                          <a:pt x="4229227" y="146304"/>
                        </a:lnTo>
                        <a:lnTo>
                          <a:pt x="4221765" y="100071"/>
                        </a:lnTo>
                        <a:lnTo>
                          <a:pt x="4200990" y="59911"/>
                        </a:lnTo>
                        <a:lnTo>
                          <a:pt x="4169315" y="28236"/>
                        </a:lnTo>
                        <a:lnTo>
                          <a:pt x="4129155" y="7461"/>
                        </a:lnTo>
                        <a:lnTo>
                          <a:pt x="4082923" y="0"/>
                        </a:lnTo>
                        <a:close/>
                      </a:path>
                    </a:pathLst>
                  </a:custGeom>
                  <a:solidFill>
                    <a:srgbClr val="090909">
                      <a:alpha val="94900"/>
                    </a:srgbClr>
                  </a:solidFill>
                </p:spPr>
                <p:txBody>
                  <a:bodyPr wrap="square" lIns="0" tIns="0" rIns="0" bIns="0" rtlCol="0"/>
                  <a:lstStyle/>
                  <a:p>
                    <a:endParaRPr/>
                  </a:p>
                </p:txBody>
              </p:sp>
              <p:sp>
                <p:nvSpPr>
                  <p:cNvPr id="15" name="object 17"/>
                  <p:cNvSpPr/>
                  <p:nvPr/>
                </p:nvSpPr>
                <p:spPr>
                  <a:xfrm>
                    <a:off x="9645649" y="5623432"/>
                    <a:ext cx="4229735" cy="2013585"/>
                  </a:xfrm>
                  <a:custGeom>
                    <a:avLst/>
                    <a:gdLst/>
                    <a:ahLst/>
                    <a:cxnLst/>
                    <a:rect l="l" t="t" r="r" b="b"/>
                    <a:pathLst>
                      <a:path w="4229734" h="2013584">
                        <a:moveTo>
                          <a:pt x="0" y="146304"/>
                        </a:moveTo>
                        <a:lnTo>
                          <a:pt x="7449" y="100071"/>
                        </a:lnTo>
                        <a:lnTo>
                          <a:pt x="28200" y="59911"/>
                        </a:lnTo>
                        <a:lnTo>
                          <a:pt x="59856" y="28236"/>
                        </a:lnTo>
                        <a:lnTo>
                          <a:pt x="100023" y="7461"/>
                        </a:lnTo>
                        <a:lnTo>
                          <a:pt x="146303" y="0"/>
                        </a:lnTo>
                        <a:lnTo>
                          <a:pt x="4082923" y="0"/>
                        </a:lnTo>
                        <a:lnTo>
                          <a:pt x="4129155" y="7461"/>
                        </a:lnTo>
                        <a:lnTo>
                          <a:pt x="4169315" y="28236"/>
                        </a:lnTo>
                        <a:lnTo>
                          <a:pt x="4200990" y="59911"/>
                        </a:lnTo>
                        <a:lnTo>
                          <a:pt x="4221765" y="100071"/>
                        </a:lnTo>
                        <a:lnTo>
                          <a:pt x="4229227" y="146304"/>
                        </a:lnTo>
                        <a:lnTo>
                          <a:pt x="4229227" y="1866696"/>
                        </a:lnTo>
                        <a:lnTo>
                          <a:pt x="4221765" y="1912938"/>
                        </a:lnTo>
                        <a:lnTo>
                          <a:pt x="4200990" y="1953100"/>
                        </a:lnTo>
                        <a:lnTo>
                          <a:pt x="4169315" y="1984771"/>
                        </a:lnTo>
                        <a:lnTo>
                          <a:pt x="4129155" y="2005541"/>
                        </a:lnTo>
                        <a:lnTo>
                          <a:pt x="4082923" y="2013000"/>
                        </a:lnTo>
                        <a:lnTo>
                          <a:pt x="146303" y="2013000"/>
                        </a:lnTo>
                        <a:lnTo>
                          <a:pt x="100023" y="2005541"/>
                        </a:lnTo>
                        <a:lnTo>
                          <a:pt x="59856" y="1984771"/>
                        </a:lnTo>
                        <a:lnTo>
                          <a:pt x="28200" y="1953100"/>
                        </a:lnTo>
                        <a:lnTo>
                          <a:pt x="7449" y="1912938"/>
                        </a:lnTo>
                        <a:lnTo>
                          <a:pt x="0" y="1866696"/>
                        </a:lnTo>
                        <a:lnTo>
                          <a:pt x="0" y="146304"/>
                        </a:lnTo>
                        <a:close/>
                      </a:path>
                    </a:pathLst>
                  </a:custGeom>
                  <a:ln w="30480">
                    <a:solidFill>
                      <a:srgbClr val="8D2323"/>
                    </a:solidFill>
                  </a:ln>
                </p:spPr>
                <p:txBody>
                  <a:bodyPr wrap="square" lIns="0" tIns="0" rIns="0" bIns="0" rtlCol="0"/>
                  <a:lstStyle/>
                  <a:p>
                    <a:endParaRPr/>
                  </a:p>
                </p:txBody>
              </p:sp>
              <p:sp>
                <p:nvSpPr>
                  <p:cNvPr id="16" name="object 18"/>
                  <p:cNvSpPr/>
                  <p:nvPr/>
                </p:nvSpPr>
                <p:spPr>
                  <a:xfrm>
                    <a:off x="9615169" y="5623432"/>
                    <a:ext cx="121920" cy="2013585"/>
                  </a:xfrm>
                  <a:custGeom>
                    <a:avLst/>
                    <a:gdLst/>
                    <a:ahLst/>
                    <a:cxnLst/>
                    <a:rect l="l" t="t" r="r" b="b"/>
                    <a:pathLst>
                      <a:path w="121920" h="2013584">
                        <a:moveTo>
                          <a:pt x="60959" y="0"/>
                        </a:moveTo>
                        <a:lnTo>
                          <a:pt x="37236" y="4792"/>
                        </a:lnTo>
                        <a:lnTo>
                          <a:pt x="17859" y="17859"/>
                        </a:lnTo>
                        <a:lnTo>
                          <a:pt x="4792" y="37236"/>
                        </a:lnTo>
                        <a:lnTo>
                          <a:pt x="0" y="60960"/>
                        </a:lnTo>
                        <a:lnTo>
                          <a:pt x="0" y="1952040"/>
                        </a:lnTo>
                        <a:lnTo>
                          <a:pt x="4792" y="1975769"/>
                        </a:lnTo>
                        <a:lnTo>
                          <a:pt x="17859" y="1995146"/>
                        </a:lnTo>
                        <a:lnTo>
                          <a:pt x="37236" y="2008210"/>
                        </a:lnTo>
                        <a:lnTo>
                          <a:pt x="60959" y="2013000"/>
                        </a:lnTo>
                        <a:lnTo>
                          <a:pt x="84683" y="2008210"/>
                        </a:lnTo>
                        <a:lnTo>
                          <a:pt x="104060" y="1995146"/>
                        </a:lnTo>
                        <a:lnTo>
                          <a:pt x="117127" y="1975769"/>
                        </a:lnTo>
                        <a:lnTo>
                          <a:pt x="121920" y="1952040"/>
                        </a:lnTo>
                        <a:lnTo>
                          <a:pt x="121920" y="60960"/>
                        </a:lnTo>
                        <a:lnTo>
                          <a:pt x="117127" y="37236"/>
                        </a:lnTo>
                        <a:lnTo>
                          <a:pt x="104060" y="17859"/>
                        </a:lnTo>
                        <a:lnTo>
                          <a:pt x="84683" y="4792"/>
                        </a:lnTo>
                        <a:lnTo>
                          <a:pt x="60959" y="0"/>
                        </a:lnTo>
                        <a:close/>
                      </a:path>
                    </a:pathLst>
                  </a:custGeom>
                  <a:solidFill>
                    <a:srgbClr val="C81212"/>
                  </a:solidFill>
                </p:spPr>
                <p:txBody>
                  <a:bodyPr wrap="square" lIns="0" tIns="0" rIns="0" bIns="0" rtlCol="0"/>
                  <a:lstStyle/>
                  <a:p>
                    <a:endParaRPr/>
                  </a:p>
                </p:txBody>
              </p:sp>
            </p:grpSp>
            <p:sp>
              <p:nvSpPr>
                <p:cNvPr id="13" name="object 19"/>
                <p:cNvSpPr txBox="1"/>
                <p:nvPr/>
              </p:nvSpPr>
              <p:spPr>
                <a:xfrm>
                  <a:off x="9073896" y="7759113"/>
                  <a:ext cx="3407477" cy="1486702"/>
                </a:xfrm>
                <a:prstGeom prst="rect">
                  <a:avLst/>
                </a:prstGeom>
              </p:spPr>
              <p:txBody>
                <a:bodyPr vert="horz" wrap="square" lIns="0" tIns="12065" rIns="0" bIns="0" rtlCol="0">
                  <a:spAutoFit/>
                </a:bodyPr>
                <a:lstStyle/>
                <a:p>
                  <a:pPr algn="ctr">
                    <a:lnSpc>
                      <a:spcPct val="150000"/>
                    </a:lnSpc>
                  </a:pPr>
                  <a:r>
                    <a:rPr lang="en-GB" sz="2400" b="1" dirty="0">
                      <a:solidFill>
                        <a:schemeClr val="bg1"/>
                      </a:solidFill>
                      <a:latin typeface="Comic Sans MS" panose="030F0702030302020204" pitchFamily="66" charset="0"/>
                    </a:rPr>
                    <a:t>3. Reduce chances of misdiagnosis</a:t>
                  </a:r>
                  <a:endParaRPr lang="en-GB" sz="2400" dirty="0">
                    <a:solidFill>
                      <a:schemeClr val="bg1"/>
                    </a:solidFill>
                    <a:latin typeface="Comic Sans MS" panose="030F0702030302020204" pitchFamily="66" charset="0"/>
                  </a:endParaRPr>
                </a:p>
              </p:txBody>
            </p:sp>
          </p:grpSp>
          <p:grpSp>
            <p:nvGrpSpPr>
              <p:cNvPr id="28" name="Group 27"/>
              <p:cNvGrpSpPr/>
              <p:nvPr/>
            </p:nvGrpSpPr>
            <p:grpSpPr>
              <a:xfrm>
                <a:off x="10703671" y="7521115"/>
                <a:ext cx="3244556" cy="2044064"/>
                <a:chOff x="8745368" y="7521115"/>
                <a:chExt cx="3940118" cy="2044064"/>
              </a:xfrm>
            </p:grpSpPr>
            <p:grpSp>
              <p:nvGrpSpPr>
                <p:cNvPr id="29" name="object 15"/>
                <p:cNvGrpSpPr/>
                <p:nvPr/>
              </p:nvGrpSpPr>
              <p:grpSpPr>
                <a:xfrm>
                  <a:off x="8745368" y="7521115"/>
                  <a:ext cx="3940118" cy="2044064"/>
                  <a:chOff x="9615169" y="5608192"/>
                  <a:chExt cx="4275455" cy="2044064"/>
                </a:xfrm>
              </p:grpSpPr>
              <p:sp>
                <p:nvSpPr>
                  <p:cNvPr id="31" name="object 16"/>
                  <p:cNvSpPr/>
                  <p:nvPr/>
                </p:nvSpPr>
                <p:spPr>
                  <a:xfrm>
                    <a:off x="9645649" y="5623432"/>
                    <a:ext cx="4229735" cy="2013585"/>
                  </a:xfrm>
                  <a:custGeom>
                    <a:avLst/>
                    <a:gdLst/>
                    <a:ahLst/>
                    <a:cxnLst/>
                    <a:rect l="l" t="t" r="r" b="b"/>
                    <a:pathLst>
                      <a:path w="4229734" h="2013584">
                        <a:moveTo>
                          <a:pt x="4082923" y="0"/>
                        </a:moveTo>
                        <a:lnTo>
                          <a:pt x="146303" y="0"/>
                        </a:lnTo>
                        <a:lnTo>
                          <a:pt x="100023" y="7461"/>
                        </a:lnTo>
                        <a:lnTo>
                          <a:pt x="59856" y="28236"/>
                        </a:lnTo>
                        <a:lnTo>
                          <a:pt x="28200" y="59911"/>
                        </a:lnTo>
                        <a:lnTo>
                          <a:pt x="7449" y="100071"/>
                        </a:lnTo>
                        <a:lnTo>
                          <a:pt x="0" y="146304"/>
                        </a:lnTo>
                        <a:lnTo>
                          <a:pt x="0" y="1866696"/>
                        </a:lnTo>
                        <a:lnTo>
                          <a:pt x="7449" y="1912938"/>
                        </a:lnTo>
                        <a:lnTo>
                          <a:pt x="28200" y="1953100"/>
                        </a:lnTo>
                        <a:lnTo>
                          <a:pt x="59856" y="1984771"/>
                        </a:lnTo>
                        <a:lnTo>
                          <a:pt x="100023" y="2005541"/>
                        </a:lnTo>
                        <a:lnTo>
                          <a:pt x="146303" y="2013000"/>
                        </a:lnTo>
                        <a:lnTo>
                          <a:pt x="4082923" y="2013000"/>
                        </a:lnTo>
                        <a:lnTo>
                          <a:pt x="4129155" y="2005541"/>
                        </a:lnTo>
                        <a:lnTo>
                          <a:pt x="4169315" y="1984771"/>
                        </a:lnTo>
                        <a:lnTo>
                          <a:pt x="4200990" y="1953100"/>
                        </a:lnTo>
                        <a:lnTo>
                          <a:pt x="4221765" y="1912938"/>
                        </a:lnTo>
                        <a:lnTo>
                          <a:pt x="4229227" y="1866696"/>
                        </a:lnTo>
                        <a:lnTo>
                          <a:pt x="4229227" y="146304"/>
                        </a:lnTo>
                        <a:lnTo>
                          <a:pt x="4221765" y="100071"/>
                        </a:lnTo>
                        <a:lnTo>
                          <a:pt x="4200990" y="59911"/>
                        </a:lnTo>
                        <a:lnTo>
                          <a:pt x="4169315" y="28236"/>
                        </a:lnTo>
                        <a:lnTo>
                          <a:pt x="4129155" y="7461"/>
                        </a:lnTo>
                        <a:lnTo>
                          <a:pt x="4082923" y="0"/>
                        </a:lnTo>
                        <a:close/>
                      </a:path>
                    </a:pathLst>
                  </a:custGeom>
                  <a:solidFill>
                    <a:srgbClr val="090909">
                      <a:alpha val="94900"/>
                    </a:srgbClr>
                  </a:solidFill>
                </p:spPr>
                <p:txBody>
                  <a:bodyPr wrap="square" lIns="0" tIns="0" rIns="0" bIns="0" rtlCol="0"/>
                  <a:lstStyle/>
                  <a:p>
                    <a:endParaRPr/>
                  </a:p>
                </p:txBody>
              </p:sp>
              <p:sp>
                <p:nvSpPr>
                  <p:cNvPr id="32" name="object 17"/>
                  <p:cNvSpPr/>
                  <p:nvPr/>
                </p:nvSpPr>
                <p:spPr>
                  <a:xfrm>
                    <a:off x="9645649" y="5623432"/>
                    <a:ext cx="4229735" cy="2013585"/>
                  </a:xfrm>
                  <a:custGeom>
                    <a:avLst/>
                    <a:gdLst/>
                    <a:ahLst/>
                    <a:cxnLst/>
                    <a:rect l="l" t="t" r="r" b="b"/>
                    <a:pathLst>
                      <a:path w="4229734" h="2013584">
                        <a:moveTo>
                          <a:pt x="0" y="146304"/>
                        </a:moveTo>
                        <a:lnTo>
                          <a:pt x="7449" y="100071"/>
                        </a:lnTo>
                        <a:lnTo>
                          <a:pt x="28200" y="59911"/>
                        </a:lnTo>
                        <a:lnTo>
                          <a:pt x="59856" y="28236"/>
                        </a:lnTo>
                        <a:lnTo>
                          <a:pt x="100023" y="7461"/>
                        </a:lnTo>
                        <a:lnTo>
                          <a:pt x="146303" y="0"/>
                        </a:lnTo>
                        <a:lnTo>
                          <a:pt x="4082923" y="0"/>
                        </a:lnTo>
                        <a:lnTo>
                          <a:pt x="4129155" y="7461"/>
                        </a:lnTo>
                        <a:lnTo>
                          <a:pt x="4169315" y="28236"/>
                        </a:lnTo>
                        <a:lnTo>
                          <a:pt x="4200990" y="59911"/>
                        </a:lnTo>
                        <a:lnTo>
                          <a:pt x="4221765" y="100071"/>
                        </a:lnTo>
                        <a:lnTo>
                          <a:pt x="4229227" y="146304"/>
                        </a:lnTo>
                        <a:lnTo>
                          <a:pt x="4229227" y="1866696"/>
                        </a:lnTo>
                        <a:lnTo>
                          <a:pt x="4221765" y="1912938"/>
                        </a:lnTo>
                        <a:lnTo>
                          <a:pt x="4200990" y="1953100"/>
                        </a:lnTo>
                        <a:lnTo>
                          <a:pt x="4169315" y="1984771"/>
                        </a:lnTo>
                        <a:lnTo>
                          <a:pt x="4129155" y="2005541"/>
                        </a:lnTo>
                        <a:lnTo>
                          <a:pt x="4082923" y="2013000"/>
                        </a:lnTo>
                        <a:lnTo>
                          <a:pt x="146303" y="2013000"/>
                        </a:lnTo>
                        <a:lnTo>
                          <a:pt x="100023" y="2005541"/>
                        </a:lnTo>
                        <a:lnTo>
                          <a:pt x="59856" y="1984771"/>
                        </a:lnTo>
                        <a:lnTo>
                          <a:pt x="28200" y="1953100"/>
                        </a:lnTo>
                        <a:lnTo>
                          <a:pt x="7449" y="1912938"/>
                        </a:lnTo>
                        <a:lnTo>
                          <a:pt x="0" y="1866696"/>
                        </a:lnTo>
                        <a:lnTo>
                          <a:pt x="0" y="146304"/>
                        </a:lnTo>
                        <a:close/>
                      </a:path>
                    </a:pathLst>
                  </a:custGeom>
                  <a:ln w="30480">
                    <a:solidFill>
                      <a:srgbClr val="8D2323"/>
                    </a:solidFill>
                  </a:ln>
                </p:spPr>
                <p:txBody>
                  <a:bodyPr wrap="square" lIns="0" tIns="0" rIns="0" bIns="0" rtlCol="0"/>
                  <a:lstStyle/>
                  <a:p>
                    <a:endParaRPr/>
                  </a:p>
                </p:txBody>
              </p:sp>
              <p:sp>
                <p:nvSpPr>
                  <p:cNvPr id="33" name="object 18"/>
                  <p:cNvSpPr/>
                  <p:nvPr/>
                </p:nvSpPr>
                <p:spPr>
                  <a:xfrm>
                    <a:off x="9615169" y="5623432"/>
                    <a:ext cx="121920" cy="2013585"/>
                  </a:xfrm>
                  <a:custGeom>
                    <a:avLst/>
                    <a:gdLst/>
                    <a:ahLst/>
                    <a:cxnLst/>
                    <a:rect l="l" t="t" r="r" b="b"/>
                    <a:pathLst>
                      <a:path w="121920" h="2013584">
                        <a:moveTo>
                          <a:pt x="60959" y="0"/>
                        </a:moveTo>
                        <a:lnTo>
                          <a:pt x="37236" y="4792"/>
                        </a:lnTo>
                        <a:lnTo>
                          <a:pt x="17859" y="17859"/>
                        </a:lnTo>
                        <a:lnTo>
                          <a:pt x="4792" y="37236"/>
                        </a:lnTo>
                        <a:lnTo>
                          <a:pt x="0" y="60960"/>
                        </a:lnTo>
                        <a:lnTo>
                          <a:pt x="0" y="1952040"/>
                        </a:lnTo>
                        <a:lnTo>
                          <a:pt x="4792" y="1975769"/>
                        </a:lnTo>
                        <a:lnTo>
                          <a:pt x="17859" y="1995146"/>
                        </a:lnTo>
                        <a:lnTo>
                          <a:pt x="37236" y="2008210"/>
                        </a:lnTo>
                        <a:lnTo>
                          <a:pt x="60959" y="2013000"/>
                        </a:lnTo>
                        <a:lnTo>
                          <a:pt x="84683" y="2008210"/>
                        </a:lnTo>
                        <a:lnTo>
                          <a:pt x="104060" y="1995146"/>
                        </a:lnTo>
                        <a:lnTo>
                          <a:pt x="117127" y="1975769"/>
                        </a:lnTo>
                        <a:lnTo>
                          <a:pt x="121920" y="1952040"/>
                        </a:lnTo>
                        <a:lnTo>
                          <a:pt x="121920" y="60960"/>
                        </a:lnTo>
                        <a:lnTo>
                          <a:pt x="117127" y="37236"/>
                        </a:lnTo>
                        <a:lnTo>
                          <a:pt x="104060" y="17859"/>
                        </a:lnTo>
                        <a:lnTo>
                          <a:pt x="84683" y="4792"/>
                        </a:lnTo>
                        <a:lnTo>
                          <a:pt x="60959" y="0"/>
                        </a:lnTo>
                        <a:close/>
                      </a:path>
                    </a:pathLst>
                  </a:custGeom>
                  <a:solidFill>
                    <a:srgbClr val="C81212"/>
                  </a:solidFill>
                </p:spPr>
                <p:txBody>
                  <a:bodyPr wrap="square" lIns="0" tIns="0" rIns="0" bIns="0" rtlCol="0"/>
                  <a:lstStyle/>
                  <a:p>
                    <a:endParaRPr/>
                  </a:p>
                </p:txBody>
              </p:sp>
            </p:grpSp>
            <p:sp>
              <p:nvSpPr>
                <p:cNvPr id="30" name="object 19"/>
                <p:cNvSpPr txBox="1"/>
                <p:nvPr/>
              </p:nvSpPr>
              <p:spPr>
                <a:xfrm>
                  <a:off x="9073896" y="7759113"/>
                  <a:ext cx="3407477" cy="1058944"/>
                </a:xfrm>
                <a:prstGeom prst="rect">
                  <a:avLst/>
                </a:prstGeom>
              </p:spPr>
              <p:txBody>
                <a:bodyPr vert="horz" wrap="square" lIns="0" tIns="12065" rIns="0" bIns="0" rtlCol="0">
                  <a:spAutoFit/>
                </a:bodyPr>
                <a:lstStyle/>
                <a:p>
                  <a:pPr algn="ctr">
                    <a:lnSpc>
                      <a:spcPct val="150000"/>
                    </a:lnSpc>
                  </a:pPr>
                  <a:r>
                    <a:rPr lang="en-GB" sz="2400" b="1" dirty="0">
                      <a:solidFill>
                        <a:schemeClr val="bg1"/>
                      </a:solidFill>
                      <a:latin typeface="Comic Sans MS" panose="030F0702030302020204" pitchFamily="66" charset="0"/>
                    </a:rPr>
                    <a:t>4. Assist hospitals in preventive care</a:t>
                  </a:r>
                  <a:endParaRPr lang="en-GB" sz="2400" dirty="0">
                    <a:solidFill>
                      <a:schemeClr val="bg1"/>
                    </a:solidFill>
                    <a:latin typeface="Comic Sans MS" panose="030F0702030302020204" pitchFamily="66" charset="0"/>
                  </a:endParaRPr>
                </a:p>
              </p:txBody>
            </p:sp>
          </p:grpSp>
          <p:grpSp>
            <p:nvGrpSpPr>
              <p:cNvPr id="42" name="Group 41"/>
              <p:cNvGrpSpPr/>
              <p:nvPr/>
            </p:nvGrpSpPr>
            <p:grpSpPr>
              <a:xfrm>
                <a:off x="14100012" y="7521115"/>
                <a:ext cx="3244556" cy="2044064"/>
                <a:chOff x="8745368" y="7521115"/>
                <a:chExt cx="3940118" cy="2044064"/>
              </a:xfrm>
            </p:grpSpPr>
            <p:grpSp>
              <p:nvGrpSpPr>
                <p:cNvPr id="43" name="object 15"/>
                <p:cNvGrpSpPr/>
                <p:nvPr/>
              </p:nvGrpSpPr>
              <p:grpSpPr>
                <a:xfrm>
                  <a:off x="8745368" y="7521115"/>
                  <a:ext cx="3940118" cy="2044064"/>
                  <a:chOff x="9615169" y="5608192"/>
                  <a:chExt cx="4275455" cy="2044064"/>
                </a:xfrm>
              </p:grpSpPr>
              <p:sp>
                <p:nvSpPr>
                  <p:cNvPr id="45" name="object 16"/>
                  <p:cNvSpPr/>
                  <p:nvPr/>
                </p:nvSpPr>
                <p:spPr>
                  <a:xfrm>
                    <a:off x="9645649" y="5623432"/>
                    <a:ext cx="4229735" cy="2013585"/>
                  </a:xfrm>
                  <a:custGeom>
                    <a:avLst/>
                    <a:gdLst/>
                    <a:ahLst/>
                    <a:cxnLst/>
                    <a:rect l="l" t="t" r="r" b="b"/>
                    <a:pathLst>
                      <a:path w="4229734" h="2013584">
                        <a:moveTo>
                          <a:pt x="4082923" y="0"/>
                        </a:moveTo>
                        <a:lnTo>
                          <a:pt x="146303" y="0"/>
                        </a:lnTo>
                        <a:lnTo>
                          <a:pt x="100023" y="7461"/>
                        </a:lnTo>
                        <a:lnTo>
                          <a:pt x="59856" y="28236"/>
                        </a:lnTo>
                        <a:lnTo>
                          <a:pt x="28200" y="59911"/>
                        </a:lnTo>
                        <a:lnTo>
                          <a:pt x="7449" y="100071"/>
                        </a:lnTo>
                        <a:lnTo>
                          <a:pt x="0" y="146304"/>
                        </a:lnTo>
                        <a:lnTo>
                          <a:pt x="0" y="1866696"/>
                        </a:lnTo>
                        <a:lnTo>
                          <a:pt x="7449" y="1912938"/>
                        </a:lnTo>
                        <a:lnTo>
                          <a:pt x="28200" y="1953100"/>
                        </a:lnTo>
                        <a:lnTo>
                          <a:pt x="59856" y="1984771"/>
                        </a:lnTo>
                        <a:lnTo>
                          <a:pt x="100023" y="2005541"/>
                        </a:lnTo>
                        <a:lnTo>
                          <a:pt x="146303" y="2013000"/>
                        </a:lnTo>
                        <a:lnTo>
                          <a:pt x="4082923" y="2013000"/>
                        </a:lnTo>
                        <a:lnTo>
                          <a:pt x="4129155" y="2005541"/>
                        </a:lnTo>
                        <a:lnTo>
                          <a:pt x="4169315" y="1984771"/>
                        </a:lnTo>
                        <a:lnTo>
                          <a:pt x="4200990" y="1953100"/>
                        </a:lnTo>
                        <a:lnTo>
                          <a:pt x="4221765" y="1912938"/>
                        </a:lnTo>
                        <a:lnTo>
                          <a:pt x="4229227" y="1866696"/>
                        </a:lnTo>
                        <a:lnTo>
                          <a:pt x="4229227" y="146304"/>
                        </a:lnTo>
                        <a:lnTo>
                          <a:pt x="4221765" y="100071"/>
                        </a:lnTo>
                        <a:lnTo>
                          <a:pt x="4200990" y="59911"/>
                        </a:lnTo>
                        <a:lnTo>
                          <a:pt x="4169315" y="28236"/>
                        </a:lnTo>
                        <a:lnTo>
                          <a:pt x="4129155" y="7461"/>
                        </a:lnTo>
                        <a:lnTo>
                          <a:pt x="4082923" y="0"/>
                        </a:lnTo>
                        <a:close/>
                      </a:path>
                    </a:pathLst>
                  </a:custGeom>
                  <a:solidFill>
                    <a:srgbClr val="090909">
                      <a:alpha val="94900"/>
                    </a:srgbClr>
                  </a:solidFill>
                </p:spPr>
                <p:txBody>
                  <a:bodyPr wrap="square" lIns="0" tIns="0" rIns="0" bIns="0" rtlCol="0"/>
                  <a:lstStyle/>
                  <a:p>
                    <a:endParaRPr/>
                  </a:p>
                </p:txBody>
              </p:sp>
              <p:sp>
                <p:nvSpPr>
                  <p:cNvPr id="46" name="object 17"/>
                  <p:cNvSpPr/>
                  <p:nvPr/>
                </p:nvSpPr>
                <p:spPr>
                  <a:xfrm>
                    <a:off x="9645649" y="5623432"/>
                    <a:ext cx="4229735" cy="2013585"/>
                  </a:xfrm>
                  <a:custGeom>
                    <a:avLst/>
                    <a:gdLst/>
                    <a:ahLst/>
                    <a:cxnLst/>
                    <a:rect l="l" t="t" r="r" b="b"/>
                    <a:pathLst>
                      <a:path w="4229734" h="2013584">
                        <a:moveTo>
                          <a:pt x="0" y="146304"/>
                        </a:moveTo>
                        <a:lnTo>
                          <a:pt x="7449" y="100071"/>
                        </a:lnTo>
                        <a:lnTo>
                          <a:pt x="28200" y="59911"/>
                        </a:lnTo>
                        <a:lnTo>
                          <a:pt x="59856" y="28236"/>
                        </a:lnTo>
                        <a:lnTo>
                          <a:pt x="100023" y="7461"/>
                        </a:lnTo>
                        <a:lnTo>
                          <a:pt x="146303" y="0"/>
                        </a:lnTo>
                        <a:lnTo>
                          <a:pt x="4082923" y="0"/>
                        </a:lnTo>
                        <a:lnTo>
                          <a:pt x="4129155" y="7461"/>
                        </a:lnTo>
                        <a:lnTo>
                          <a:pt x="4169315" y="28236"/>
                        </a:lnTo>
                        <a:lnTo>
                          <a:pt x="4200990" y="59911"/>
                        </a:lnTo>
                        <a:lnTo>
                          <a:pt x="4221765" y="100071"/>
                        </a:lnTo>
                        <a:lnTo>
                          <a:pt x="4229227" y="146304"/>
                        </a:lnTo>
                        <a:lnTo>
                          <a:pt x="4229227" y="1866696"/>
                        </a:lnTo>
                        <a:lnTo>
                          <a:pt x="4221765" y="1912938"/>
                        </a:lnTo>
                        <a:lnTo>
                          <a:pt x="4200990" y="1953100"/>
                        </a:lnTo>
                        <a:lnTo>
                          <a:pt x="4169315" y="1984771"/>
                        </a:lnTo>
                        <a:lnTo>
                          <a:pt x="4129155" y="2005541"/>
                        </a:lnTo>
                        <a:lnTo>
                          <a:pt x="4082923" y="2013000"/>
                        </a:lnTo>
                        <a:lnTo>
                          <a:pt x="146303" y="2013000"/>
                        </a:lnTo>
                        <a:lnTo>
                          <a:pt x="100023" y="2005541"/>
                        </a:lnTo>
                        <a:lnTo>
                          <a:pt x="59856" y="1984771"/>
                        </a:lnTo>
                        <a:lnTo>
                          <a:pt x="28200" y="1953100"/>
                        </a:lnTo>
                        <a:lnTo>
                          <a:pt x="7449" y="1912938"/>
                        </a:lnTo>
                        <a:lnTo>
                          <a:pt x="0" y="1866696"/>
                        </a:lnTo>
                        <a:lnTo>
                          <a:pt x="0" y="146304"/>
                        </a:lnTo>
                        <a:close/>
                      </a:path>
                    </a:pathLst>
                  </a:custGeom>
                  <a:ln w="30480">
                    <a:solidFill>
                      <a:srgbClr val="8D2323"/>
                    </a:solidFill>
                  </a:ln>
                </p:spPr>
                <p:txBody>
                  <a:bodyPr wrap="square" lIns="0" tIns="0" rIns="0" bIns="0" rtlCol="0"/>
                  <a:lstStyle/>
                  <a:p>
                    <a:endParaRPr/>
                  </a:p>
                </p:txBody>
              </p:sp>
              <p:sp>
                <p:nvSpPr>
                  <p:cNvPr id="47" name="object 18"/>
                  <p:cNvSpPr/>
                  <p:nvPr/>
                </p:nvSpPr>
                <p:spPr>
                  <a:xfrm>
                    <a:off x="9615169" y="5623432"/>
                    <a:ext cx="121920" cy="2013585"/>
                  </a:xfrm>
                  <a:custGeom>
                    <a:avLst/>
                    <a:gdLst/>
                    <a:ahLst/>
                    <a:cxnLst/>
                    <a:rect l="l" t="t" r="r" b="b"/>
                    <a:pathLst>
                      <a:path w="121920" h="2013584">
                        <a:moveTo>
                          <a:pt x="60959" y="0"/>
                        </a:moveTo>
                        <a:lnTo>
                          <a:pt x="37236" y="4792"/>
                        </a:lnTo>
                        <a:lnTo>
                          <a:pt x="17859" y="17859"/>
                        </a:lnTo>
                        <a:lnTo>
                          <a:pt x="4792" y="37236"/>
                        </a:lnTo>
                        <a:lnTo>
                          <a:pt x="0" y="60960"/>
                        </a:lnTo>
                        <a:lnTo>
                          <a:pt x="0" y="1952040"/>
                        </a:lnTo>
                        <a:lnTo>
                          <a:pt x="4792" y="1975769"/>
                        </a:lnTo>
                        <a:lnTo>
                          <a:pt x="17859" y="1995146"/>
                        </a:lnTo>
                        <a:lnTo>
                          <a:pt x="37236" y="2008210"/>
                        </a:lnTo>
                        <a:lnTo>
                          <a:pt x="60959" y="2013000"/>
                        </a:lnTo>
                        <a:lnTo>
                          <a:pt x="84683" y="2008210"/>
                        </a:lnTo>
                        <a:lnTo>
                          <a:pt x="104060" y="1995146"/>
                        </a:lnTo>
                        <a:lnTo>
                          <a:pt x="117127" y="1975769"/>
                        </a:lnTo>
                        <a:lnTo>
                          <a:pt x="121920" y="1952040"/>
                        </a:lnTo>
                        <a:lnTo>
                          <a:pt x="121920" y="60960"/>
                        </a:lnTo>
                        <a:lnTo>
                          <a:pt x="117127" y="37236"/>
                        </a:lnTo>
                        <a:lnTo>
                          <a:pt x="104060" y="17859"/>
                        </a:lnTo>
                        <a:lnTo>
                          <a:pt x="84683" y="4792"/>
                        </a:lnTo>
                        <a:lnTo>
                          <a:pt x="60959" y="0"/>
                        </a:lnTo>
                        <a:close/>
                      </a:path>
                    </a:pathLst>
                  </a:custGeom>
                  <a:solidFill>
                    <a:srgbClr val="C81212"/>
                  </a:solidFill>
                </p:spPr>
                <p:txBody>
                  <a:bodyPr wrap="square" lIns="0" tIns="0" rIns="0" bIns="0" rtlCol="0"/>
                  <a:lstStyle/>
                  <a:p>
                    <a:endParaRPr/>
                  </a:p>
                </p:txBody>
              </p:sp>
            </p:grpSp>
            <p:sp>
              <p:nvSpPr>
                <p:cNvPr id="44" name="object 19"/>
                <p:cNvSpPr txBox="1"/>
                <p:nvPr/>
              </p:nvSpPr>
              <p:spPr>
                <a:xfrm>
                  <a:off x="9073896" y="7759113"/>
                  <a:ext cx="3407477" cy="1612942"/>
                </a:xfrm>
                <a:prstGeom prst="rect">
                  <a:avLst/>
                </a:prstGeom>
              </p:spPr>
              <p:txBody>
                <a:bodyPr vert="horz" wrap="square" lIns="0" tIns="12065" rIns="0" bIns="0" rtlCol="0">
                  <a:spAutoFit/>
                </a:bodyPr>
                <a:lstStyle/>
                <a:p>
                  <a:pPr algn="ctr">
                    <a:lnSpc>
                      <a:spcPct val="150000"/>
                    </a:lnSpc>
                  </a:pPr>
                  <a:r>
                    <a:rPr lang="en-GB" sz="2400" b="1" dirty="0">
                      <a:solidFill>
                        <a:schemeClr val="bg1"/>
                      </a:solidFill>
                      <a:latin typeface="Comic Sans MS" panose="030F0702030302020204" pitchFamily="66" charset="0"/>
                    </a:rPr>
                    <a:t>5. Provide quick and consistent predictions</a:t>
                  </a:r>
                  <a:endParaRPr lang="en-GB" sz="2400" dirty="0">
                    <a:solidFill>
                      <a:schemeClr val="bg1"/>
                    </a:solidFill>
                    <a:latin typeface="Comic Sans MS" panose="030F0702030302020204" pitchFamily="66" charset="0"/>
                  </a:endParaRPr>
                </a:p>
              </p:txBody>
            </p:sp>
          </p:grpSp>
        </p:grpSp>
        <p:sp>
          <p:nvSpPr>
            <p:cNvPr id="50" name="object 4"/>
            <p:cNvSpPr txBox="1"/>
            <p:nvPr/>
          </p:nvSpPr>
          <p:spPr>
            <a:xfrm>
              <a:off x="655770" y="9772698"/>
              <a:ext cx="16633560" cy="1234633"/>
            </a:xfrm>
            <a:prstGeom prst="rect">
              <a:avLst/>
            </a:prstGeom>
          </p:spPr>
          <p:txBody>
            <a:bodyPr vert="horz" wrap="square" lIns="0" tIns="13335" rIns="0" bIns="0" rtlCol="0">
              <a:spAutoFit/>
            </a:bodyPr>
            <a:lstStyle/>
            <a:p>
              <a:pPr algn="ctr">
                <a:lnSpc>
                  <a:spcPct val="150000"/>
                </a:lnSpc>
              </a:pPr>
              <a:r>
                <a:rPr lang="en-GB" sz="2800" dirty="0">
                  <a:solidFill>
                    <a:schemeClr val="bg1"/>
                  </a:solidFill>
                  <a:latin typeface="Comic Sans MS" panose="030F0702030302020204" pitchFamily="66" charset="0"/>
                </a:rPr>
                <a:t>The project trains multiple classification algorithms and compares their performance to determine the best-predicting model.</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4"/>
                                        </p:tgtEl>
                                        <p:attrNameLst>
                                          <p:attrName>style.visibility</p:attrName>
                                        </p:attrNameLst>
                                      </p:cBhvr>
                                      <p:to>
                                        <p:strVal val="visible"/>
                                      </p:to>
                                    </p:set>
                                    <p:anim calcmode="lin" valueType="num">
                                      <p:cBhvr additive="base">
                                        <p:cTn id="7" dur="500"/>
                                        <p:tgtEl>
                                          <p:spTgt spid="10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6" descr="abstrait numérique La technologie cerveau futuriste, ai artificiel  intelligence bleu arrière-plan, cyber science santé technologie, innovation  bavarder futur gros données, l'Internet réseau connexion, nuage  salut-technologie vecteur 33890724 Art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8288000" cy="10287000"/>
          </a:xfrm>
          <a:prstGeom prst="rect">
            <a:avLst/>
          </a:prstGeom>
          <a:noFill/>
          <a:extLst>
            <a:ext uri="{909E8E84-426E-40DD-AFC4-6F175D3DCCD1}">
              <a14:hiddenFill xmlns:a14="http://schemas.microsoft.com/office/drawing/2010/main">
                <a:solidFill>
                  <a:srgbClr val="FFFFFF"/>
                </a:solidFill>
              </a14:hiddenFill>
            </a:ext>
          </a:extLst>
        </p:spPr>
      </p:pic>
      <p:pic>
        <p:nvPicPr>
          <p:cNvPr id="6" name="object 4"/>
          <p:cNvPicPr/>
          <p:nvPr/>
        </p:nvPicPr>
        <p:blipFill>
          <a:blip r:embed="rId3" cstate="print"/>
          <a:stretch>
            <a:fillRect/>
          </a:stretch>
        </p:blipFill>
        <p:spPr>
          <a:xfrm>
            <a:off x="11161484" y="0"/>
            <a:ext cx="7129666" cy="10287000"/>
          </a:xfrm>
          <a:prstGeom prst="rect">
            <a:avLst/>
          </a:prstGeom>
        </p:spPr>
      </p:pic>
      <p:sp>
        <p:nvSpPr>
          <p:cNvPr id="9" name="object 2"/>
          <p:cNvSpPr txBox="1">
            <a:spLocks/>
          </p:cNvSpPr>
          <p:nvPr/>
        </p:nvSpPr>
        <p:spPr>
          <a:xfrm>
            <a:off x="470652" y="843677"/>
            <a:ext cx="17062603" cy="948337"/>
          </a:xfrm>
          <a:prstGeom prst="rect">
            <a:avLst/>
          </a:prstGeom>
          <a:noFill/>
          <a:ln>
            <a:noFill/>
          </a:ln>
        </p:spPr>
        <p:txBody>
          <a:bodyPr spcFirstLastPara="1" vert="horz" wrap="square" lIns="0" tIns="12065" rIns="0" bIns="0" rtlCol="0" anchor="ctr" anchorCtr="0">
            <a:sp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spcBef>
                <a:spcPts val="95"/>
              </a:spcBef>
            </a:pPr>
            <a:r>
              <a:rPr lang="en-GB" sz="6000" b="1" spc="325" dirty="0" smtClean="0">
                <a:solidFill>
                  <a:schemeClr val="bg1"/>
                </a:solidFill>
                <a:latin typeface="Ink Free" panose="03080402000500000000" pitchFamily="66" charset="0"/>
              </a:rPr>
              <a:t>Why</a:t>
            </a:r>
            <a:r>
              <a:rPr lang="en-GB" sz="6000" b="1" spc="-555" dirty="0" smtClean="0">
                <a:solidFill>
                  <a:schemeClr val="bg1"/>
                </a:solidFill>
                <a:latin typeface="Ink Free" panose="03080402000500000000" pitchFamily="66" charset="0"/>
              </a:rPr>
              <a:t> </a:t>
            </a:r>
            <a:r>
              <a:rPr lang="en-GB" sz="6000" b="1" spc="470" dirty="0" smtClean="0">
                <a:solidFill>
                  <a:schemeClr val="bg1"/>
                </a:solidFill>
                <a:latin typeface="Ink Free" panose="03080402000500000000" pitchFamily="66" charset="0"/>
              </a:rPr>
              <a:t>Machine</a:t>
            </a:r>
            <a:r>
              <a:rPr lang="en-GB" sz="6000" b="1" spc="-535" dirty="0" smtClean="0">
                <a:solidFill>
                  <a:schemeClr val="bg1"/>
                </a:solidFill>
                <a:latin typeface="Ink Free" panose="03080402000500000000" pitchFamily="66" charset="0"/>
              </a:rPr>
              <a:t> </a:t>
            </a:r>
            <a:r>
              <a:rPr lang="en-GB" sz="6000" b="1" spc="440" dirty="0" smtClean="0">
                <a:solidFill>
                  <a:schemeClr val="bg1"/>
                </a:solidFill>
                <a:latin typeface="Ink Free" panose="03080402000500000000" pitchFamily="66" charset="0"/>
              </a:rPr>
              <a:t>Learning</a:t>
            </a:r>
            <a:r>
              <a:rPr lang="en-GB" sz="6000" b="1" spc="-515" dirty="0" smtClean="0">
                <a:solidFill>
                  <a:schemeClr val="bg1"/>
                </a:solidFill>
                <a:latin typeface="Ink Free" panose="03080402000500000000" pitchFamily="66" charset="0"/>
              </a:rPr>
              <a:t> </a:t>
            </a:r>
            <a:r>
              <a:rPr lang="en-GB" sz="6000" b="1" spc="475" dirty="0" smtClean="0">
                <a:solidFill>
                  <a:schemeClr val="bg1"/>
                </a:solidFill>
                <a:latin typeface="Ink Free" panose="03080402000500000000" pitchFamily="66" charset="0"/>
              </a:rPr>
              <a:t>for</a:t>
            </a:r>
            <a:r>
              <a:rPr lang="en-GB" sz="6000" b="1" spc="-555" dirty="0" smtClean="0">
                <a:solidFill>
                  <a:schemeClr val="bg1"/>
                </a:solidFill>
                <a:latin typeface="Ink Free" panose="03080402000500000000" pitchFamily="66" charset="0"/>
              </a:rPr>
              <a:t> </a:t>
            </a:r>
            <a:r>
              <a:rPr lang="en-GB" sz="6000" b="1" spc="484" dirty="0" smtClean="0">
                <a:solidFill>
                  <a:schemeClr val="bg1"/>
                </a:solidFill>
                <a:latin typeface="Ink Free" panose="03080402000500000000" pitchFamily="66" charset="0"/>
              </a:rPr>
              <a:t>Early</a:t>
            </a:r>
            <a:r>
              <a:rPr lang="en-GB" sz="6000" b="1" spc="-525" dirty="0" smtClean="0">
                <a:solidFill>
                  <a:schemeClr val="bg1"/>
                </a:solidFill>
                <a:latin typeface="Ink Free" panose="03080402000500000000" pitchFamily="66" charset="0"/>
              </a:rPr>
              <a:t> </a:t>
            </a:r>
            <a:r>
              <a:rPr lang="en-GB" sz="6000" b="1" spc="505" dirty="0" smtClean="0">
                <a:solidFill>
                  <a:schemeClr val="bg1"/>
                </a:solidFill>
                <a:latin typeface="Ink Free" panose="03080402000500000000" pitchFamily="66" charset="0"/>
              </a:rPr>
              <a:t>Prediction?</a:t>
            </a:r>
            <a:endParaRPr lang="en-GB" sz="6000" b="1" dirty="0">
              <a:solidFill>
                <a:schemeClr val="bg1"/>
              </a:solidFill>
              <a:latin typeface="Ink Free" panose="03080402000500000000" pitchFamily="66" charset="0"/>
            </a:endParaRPr>
          </a:p>
        </p:txBody>
      </p:sp>
      <p:sp>
        <p:nvSpPr>
          <p:cNvPr id="10" name="object 3"/>
          <p:cNvSpPr txBox="1"/>
          <p:nvPr/>
        </p:nvSpPr>
        <p:spPr>
          <a:xfrm>
            <a:off x="1094768" y="2321282"/>
            <a:ext cx="15886946" cy="6434454"/>
          </a:xfrm>
          <a:prstGeom prst="rect">
            <a:avLst/>
          </a:prstGeom>
        </p:spPr>
        <p:txBody>
          <a:bodyPr vert="horz" wrap="square" lIns="0" tIns="90805" rIns="0" bIns="0" rtlCol="0">
            <a:spAutoFit/>
          </a:bodyPr>
          <a:lstStyle/>
          <a:p>
            <a:pPr marL="12700" algn="just">
              <a:lnSpc>
                <a:spcPct val="150000"/>
              </a:lnSpc>
              <a:spcBef>
                <a:spcPts val="715"/>
              </a:spcBef>
            </a:pPr>
            <a:r>
              <a:rPr sz="2800" spc="20" dirty="0">
                <a:solidFill>
                  <a:srgbClr val="FFE4E4"/>
                </a:solidFill>
                <a:latin typeface="Comic Sans MS" panose="030F0702030302020204" pitchFamily="66" charset="0"/>
                <a:cs typeface="Arial MT"/>
              </a:rPr>
              <a:t>Traditional</a:t>
            </a:r>
            <a:r>
              <a:rPr sz="2800" spc="50" dirty="0">
                <a:solidFill>
                  <a:srgbClr val="FFE4E4"/>
                </a:solidFill>
                <a:latin typeface="Comic Sans MS" panose="030F0702030302020204" pitchFamily="66" charset="0"/>
                <a:cs typeface="Arial MT"/>
              </a:rPr>
              <a:t> </a:t>
            </a:r>
            <a:r>
              <a:rPr sz="2800" spc="20" dirty="0">
                <a:solidFill>
                  <a:srgbClr val="FFE4E4"/>
                </a:solidFill>
                <a:latin typeface="Comic Sans MS" panose="030F0702030302020204" pitchFamily="66" charset="0"/>
                <a:cs typeface="Arial MT"/>
              </a:rPr>
              <a:t>diagnostic</a:t>
            </a:r>
            <a:r>
              <a:rPr sz="2800" spc="30" dirty="0">
                <a:solidFill>
                  <a:srgbClr val="FFE4E4"/>
                </a:solidFill>
                <a:latin typeface="Comic Sans MS" panose="030F0702030302020204" pitchFamily="66" charset="0"/>
                <a:cs typeface="Arial MT"/>
              </a:rPr>
              <a:t> </a:t>
            </a:r>
            <a:r>
              <a:rPr sz="2800" spc="60" dirty="0">
                <a:solidFill>
                  <a:srgbClr val="FFE4E4"/>
                </a:solidFill>
                <a:latin typeface="Comic Sans MS" panose="030F0702030302020204" pitchFamily="66" charset="0"/>
                <a:cs typeface="Arial MT"/>
              </a:rPr>
              <a:t>methods</a:t>
            </a:r>
            <a:r>
              <a:rPr sz="2800" spc="10" dirty="0">
                <a:solidFill>
                  <a:srgbClr val="FFE4E4"/>
                </a:solidFill>
                <a:latin typeface="Comic Sans MS" panose="030F0702030302020204" pitchFamily="66" charset="0"/>
                <a:cs typeface="Arial MT"/>
              </a:rPr>
              <a:t> </a:t>
            </a:r>
            <a:r>
              <a:rPr sz="2800" spc="20" dirty="0">
                <a:solidFill>
                  <a:srgbClr val="FFE4E4"/>
                </a:solidFill>
                <a:latin typeface="Comic Sans MS" panose="030F0702030302020204" pitchFamily="66" charset="0"/>
                <a:cs typeface="Arial MT"/>
              </a:rPr>
              <a:t>can</a:t>
            </a:r>
            <a:r>
              <a:rPr sz="2800" spc="55" dirty="0">
                <a:solidFill>
                  <a:srgbClr val="FFE4E4"/>
                </a:solidFill>
                <a:latin typeface="Comic Sans MS" panose="030F0702030302020204" pitchFamily="66" charset="0"/>
                <a:cs typeface="Arial MT"/>
              </a:rPr>
              <a:t> be</a:t>
            </a:r>
            <a:r>
              <a:rPr sz="2800" spc="35" dirty="0">
                <a:solidFill>
                  <a:srgbClr val="FFE4E4"/>
                </a:solidFill>
                <a:latin typeface="Comic Sans MS" panose="030F0702030302020204" pitchFamily="66" charset="0"/>
                <a:cs typeface="Arial MT"/>
              </a:rPr>
              <a:t> </a:t>
            </a:r>
            <a:r>
              <a:rPr sz="2800" spc="105" dirty="0">
                <a:solidFill>
                  <a:srgbClr val="FFE4E4"/>
                </a:solidFill>
                <a:latin typeface="Comic Sans MS" panose="030F0702030302020204" pitchFamily="66" charset="0"/>
                <a:cs typeface="Arial MT"/>
              </a:rPr>
              <a:t>time-</a:t>
            </a:r>
            <a:r>
              <a:rPr sz="2800" spc="20" dirty="0">
                <a:solidFill>
                  <a:srgbClr val="FFE4E4"/>
                </a:solidFill>
                <a:latin typeface="Comic Sans MS" panose="030F0702030302020204" pitchFamily="66" charset="0"/>
                <a:cs typeface="Arial MT"/>
              </a:rPr>
              <a:t>consuming</a:t>
            </a:r>
            <a:r>
              <a:rPr sz="2800" spc="-10" dirty="0">
                <a:solidFill>
                  <a:srgbClr val="FFE4E4"/>
                </a:solidFill>
                <a:latin typeface="Comic Sans MS" panose="030F0702030302020204" pitchFamily="66" charset="0"/>
                <a:cs typeface="Arial MT"/>
              </a:rPr>
              <a:t> </a:t>
            </a:r>
            <a:r>
              <a:rPr sz="2800" spc="20" dirty="0">
                <a:solidFill>
                  <a:srgbClr val="FFE4E4"/>
                </a:solidFill>
                <a:latin typeface="Comic Sans MS" panose="030F0702030302020204" pitchFamily="66" charset="0"/>
                <a:cs typeface="Arial MT"/>
              </a:rPr>
              <a:t>and</a:t>
            </a:r>
            <a:r>
              <a:rPr sz="2800" spc="45" dirty="0">
                <a:solidFill>
                  <a:srgbClr val="FFE4E4"/>
                </a:solidFill>
                <a:latin typeface="Comic Sans MS" panose="030F0702030302020204" pitchFamily="66" charset="0"/>
                <a:cs typeface="Arial MT"/>
              </a:rPr>
              <a:t> </a:t>
            </a:r>
            <a:r>
              <a:rPr sz="2800" spc="60" dirty="0">
                <a:solidFill>
                  <a:srgbClr val="FFE4E4"/>
                </a:solidFill>
                <a:latin typeface="Comic Sans MS" panose="030F0702030302020204" pitchFamily="66" charset="0"/>
                <a:cs typeface="Arial MT"/>
              </a:rPr>
              <a:t>often</a:t>
            </a:r>
            <a:r>
              <a:rPr sz="2800" spc="20" dirty="0">
                <a:solidFill>
                  <a:srgbClr val="FFE4E4"/>
                </a:solidFill>
                <a:latin typeface="Comic Sans MS" panose="030F0702030302020204" pitchFamily="66" charset="0"/>
                <a:cs typeface="Arial MT"/>
              </a:rPr>
              <a:t> reactive.</a:t>
            </a:r>
            <a:r>
              <a:rPr sz="2800" spc="40" dirty="0">
                <a:solidFill>
                  <a:srgbClr val="FFE4E4"/>
                </a:solidFill>
                <a:latin typeface="Comic Sans MS" panose="030F0702030302020204" pitchFamily="66" charset="0"/>
                <a:cs typeface="Arial MT"/>
              </a:rPr>
              <a:t> </a:t>
            </a:r>
            <a:r>
              <a:rPr sz="2800" spc="20" dirty="0">
                <a:solidFill>
                  <a:srgbClr val="FFE4E4"/>
                </a:solidFill>
                <a:latin typeface="Comic Sans MS" panose="030F0702030302020204" pitchFamily="66" charset="0"/>
                <a:cs typeface="Arial MT"/>
              </a:rPr>
              <a:t>Machine</a:t>
            </a:r>
            <a:r>
              <a:rPr sz="2800" spc="50" dirty="0">
                <a:solidFill>
                  <a:srgbClr val="FFE4E4"/>
                </a:solidFill>
                <a:latin typeface="Comic Sans MS" panose="030F0702030302020204" pitchFamily="66" charset="0"/>
                <a:cs typeface="Arial MT"/>
              </a:rPr>
              <a:t> </a:t>
            </a:r>
            <a:r>
              <a:rPr sz="2800" spc="20" dirty="0">
                <a:solidFill>
                  <a:srgbClr val="FFE4E4"/>
                </a:solidFill>
                <a:latin typeface="Comic Sans MS" panose="030F0702030302020204" pitchFamily="66" charset="0"/>
                <a:cs typeface="Arial MT"/>
              </a:rPr>
              <a:t>learning</a:t>
            </a:r>
            <a:r>
              <a:rPr sz="2800" spc="40" dirty="0">
                <a:solidFill>
                  <a:srgbClr val="FFE4E4"/>
                </a:solidFill>
                <a:latin typeface="Comic Sans MS" panose="030F0702030302020204" pitchFamily="66" charset="0"/>
                <a:cs typeface="Arial MT"/>
              </a:rPr>
              <a:t> </a:t>
            </a:r>
            <a:r>
              <a:rPr sz="2800" spc="20" dirty="0">
                <a:solidFill>
                  <a:srgbClr val="FFE4E4"/>
                </a:solidFill>
                <a:latin typeface="Comic Sans MS" panose="030F0702030302020204" pitchFamily="66" charset="0"/>
                <a:cs typeface="Arial MT"/>
              </a:rPr>
              <a:t>offers</a:t>
            </a:r>
            <a:r>
              <a:rPr sz="2800" spc="30" dirty="0">
                <a:solidFill>
                  <a:srgbClr val="FFE4E4"/>
                </a:solidFill>
                <a:latin typeface="Comic Sans MS" panose="030F0702030302020204" pitchFamily="66" charset="0"/>
                <a:cs typeface="Arial MT"/>
              </a:rPr>
              <a:t> </a:t>
            </a:r>
            <a:r>
              <a:rPr sz="2800" spc="20" dirty="0">
                <a:solidFill>
                  <a:srgbClr val="FFE4E4"/>
                </a:solidFill>
                <a:latin typeface="Comic Sans MS" panose="030F0702030302020204" pitchFamily="66" charset="0"/>
                <a:cs typeface="Arial MT"/>
              </a:rPr>
              <a:t>a</a:t>
            </a:r>
            <a:r>
              <a:rPr sz="2800" spc="50" dirty="0">
                <a:solidFill>
                  <a:srgbClr val="FFE4E4"/>
                </a:solidFill>
                <a:latin typeface="Comic Sans MS" panose="030F0702030302020204" pitchFamily="66" charset="0"/>
                <a:cs typeface="Arial MT"/>
              </a:rPr>
              <a:t> proactive</a:t>
            </a:r>
            <a:r>
              <a:rPr sz="2800" spc="30" dirty="0">
                <a:solidFill>
                  <a:srgbClr val="FFE4E4"/>
                </a:solidFill>
                <a:latin typeface="Comic Sans MS" panose="030F0702030302020204" pitchFamily="66" charset="0"/>
                <a:cs typeface="Arial MT"/>
              </a:rPr>
              <a:t> </a:t>
            </a:r>
            <a:r>
              <a:rPr sz="2800" spc="20" dirty="0">
                <a:solidFill>
                  <a:srgbClr val="FFE4E4"/>
                </a:solidFill>
                <a:latin typeface="Comic Sans MS" panose="030F0702030302020204" pitchFamily="66" charset="0"/>
                <a:cs typeface="Arial MT"/>
              </a:rPr>
              <a:t>solution</a:t>
            </a:r>
            <a:r>
              <a:rPr sz="2800" spc="30" dirty="0">
                <a:solidFill>
                  <a:srgbClr val="FFE4E4"/>
                </a:solidFill>
                <a:latin typeface="Comic Sans MS" panose="030F0702030302020204" pitchFamily="66" charset="0"/>
                <a:cs typeface="Arial MT"/>
              </a:rPr>
              <a:t> </a:t>
            </a:r>
            <a:r>
              <a:rPr sz="2800" spc="80" dirty="0">
                <a:solidFill>
                  <a:srgbClr val="FFE4E4"/>
                </a:solidFill>
                <a:latin typeface="Comic Sans MS" panose="030F0702030302020204" pitchFamily="66" charset="0"/>
                <a:cs typeface="Arial MT"/>
              </a:rPr>
              <a:t>by</a:t>
            </a:r>
            <a:r>
              <a:rPr sz="2800" spc="25" dirty="0">
                <a:solidFill>
                  <a:srgbClr val="FFE4E4"/>
                </a:solidFill>
                <a:latin typeface="Comic Sans MS" panose="030F0702030302020204" pitchFamily="66" charset="0"/>
                <a:cs typeface="Arial MT"/>
              </a:rPr>
              <a:t> </a:t>
            </a:r>
            <a:r>
              <a:rPr sz="2800" spc="20" dirty="0">
                <a:solidFill>
                  <a:srgbClr val="FFE4E4"/>
                </a:solidFill>
                <a:latin typeface="Comic Sans MS" panose="030F0702030302020204" pitchFamily="66" charset="0"/>
                <a:cs typeface="Arial MT"/>
              </a:rPr>
              <a:t>identifying</a:t>
            </a:r>
            <a:r>
              <a:rPr sz="2800" spc="30" dirty="0">
                <a:solidFill>
                  <a:srgbClr val="FFE4E4"/>
                </a:solidFill>
                <a:latin typeface="Comic Sans MS" panose="030F0702030302020204" pitchFamily="66" charset="0"/>
                <a:cs typeface="Arial MT"/>
              </a:rPr>
              <a:t> </a:t>
            </a:r>
            <a:r>
              <a:rPr sz="2800" spc="55" dirty="0">
                <a:solidFill>
                  <a:srgbClr val="FFE4E4"/>
                </a:solidFill>
                <a:latin typeface="Comic Sans MS" panose="030F0702030302020204" pitchFamily="66" charset="0"/>
                <a:cs typeface="Arial MT"/>
              </a:rPr>
              <a:t>patterns</a:t>
            </a:r>
            <a:r>
              <a:rPr sz="2800" spc="30" dirty="0">
                <a:solidFill>
                  <a:srgbClr val="FFE4E4"/>
                </a:solidFill>
                <a:latin typeface="Comic Sans MS" panose="030F0702030302020204" pitchFamily="66" charset="0"/>
                <a:cs typeface="Arial MT"/>
              </a:rPr>
              <a:t> </a:t>
            </a:r>
            <a:r>
              <a:rPr sz="2800" spc="20" dirty="0">
                <a:solidFill>
                  <a:srgbClr val="FFE4E4"/>
                </a:solidFill>
                <a:latin typeface="Comic Sans MS" panose="030F0702030302020204" pitchFamily="66" charset="0"/>
                <a:cs typeface="Arial MT"/>
              </a:rPr>
              <a:t>in</a:t>
            </a:r>
            <a:r>
              <a:rPr sz="2800" spc="45" dirty="0">
                <a:solidFill>
                  <a:srgbClr val="FFE4E4"/>
                </a:solidFill>
                <a:latin typeface="Comic Sans MS" panose="030F0702030302020204" pitchFamily="66" charset="0"/>
                <a:cs typeface="Arial MT"/>
              </a:rPr>
              <a:t> </a:t>
            </a:r>
            <a:r>
              <a:rPr sz="2800" spc="60" dirty="0">
                <a:solidFill>
                  <a:srgbClr val="FFE4E4"/>
                </a:solidFill>
                <a:latin typeface="Comic Sans MS" panose="030F0702030302020204" pitchFamily="66" charset="0"/>
                <a:cs typeface="Arial MT"/>
              </a:rPr>
              <a:t>patient</a:t>
            </a:r>
            <a:r>
              <a:rPr sz="2800" spc="40" dirty="0">
                <a:solidFill>
                  <a:srgbClr val="FFE4E4"/>
                </a:solidFill>
                <a:latin typeface="Comic Sans MS" panose="030F0702030302020204" pitchFamily="66" charset="0"/>
                <a:cs typeface="Arial MT"/>
              </a:rPr>
              <a:t> </a:t>
            </a:r>
            <a:r>
              <a:rPr sz="2800" spc="50" dirty="0">
                <a:solidFill>
                  <a:srgbClr val="FFE4E4"/>
                </a:solidFill>
                <a:latin typeface="Comic Sans MS" panose="030F0702030302020204" pitchFamily="66" charset="0"/>
                <a:cs typeface="Arial MT"/>
              </a:rPr>
              <a:t>data that</a:t>
            </a:r>
            <a:endParaRPr sz="2800" dirty="0">
              <a:latin typeface="Comic Sans MS" panose="030F0702030302020204" pitchFamily="66" charset="0"/>
              <a:cs typeface="Arial MT"/>
            </a:endParaRPr>
          </a:p>
          <a:p>
            <a:pPr marL="12700" algn="just">
              <a:lnSpc>
                <a:spcPct val="150000"/>
              </a:lnSpc>
              <a:spcBef>
                <a:spcPts val="615"/>
              </a:spcBef>
            </a:pPr>
            <a:r>
              <a:rPr sz="2800" spc="50" dirty="0">
                <a:solidFill>
                  <a:srgbClr val="FFE4E4"/>
                </a:solidFill>
                <a:latin typeface="Comic Sans MS" panose="030F0702030302020204" pitchFamily="66" charset="0"/>
                <a:cs typeface="Arial MT"/>
              </a:rPr>
              <a:t>indicate </a:t>
            </a:r>
            <a:r>
              <a:rPr sz="2800" dirty="0">
                <a:solidFill>
                  <a:srgbClr val="FFE4E4"/>
                </a:solidFill>
                <a:latin typeface="Comic Sans MS" panose="030F0702030302020204" pitchFamily="66" charset="0"/>
                <a:cs typeface="Arial MT"/>
              </a:rPr>
              <a:t>a</a:t>
            </a:r>
            <a:r>
              <a:rPr sz="2800" spc="65" dirty="0">
                <a:solidFill>
                  <a:srgbClr val="FFE4E4"/>
                </a:solidFill>
                <a:latin typeface="Comic Sans MS" panose="030F0702030302020204" pitchFamily="66" charset="0"/>
                <a:cs typeface="Arial MT"/>
              </a:rPr>
              <a:t> </a:t>
            </a:r>
            <a:r>
              <a:rPr sz="2800" dirty="0">
                <a:solidFill>
                  <a:srgbClr val="FFE4E4"/>
                </a:solidFill>
                <a:latin typeface="Comic Sans MS" panose="030F0702030302020204" pitchFamily="66" charset="0"/>
                <a:cs typeface="Arial MT"/>
              </a:rPr>
              <a:t>higher</a:t>
            </a:r>
            <a:r>
              <a:rPr sz="2800" spc="30" dirty="0">
                <a:solidFill>
                  <a:srgbClr val="FFE4E4"/>
                </a:solidFill>
                <a:latin typeface="Comic Sans MS" panose="030F0702030302020204" pitchFamily="66" charset="0"/>
                <a:cs typeface="Arial MT"/>
              </a:rPr>
              <a:t> </a:t>
            </a:r>
            <a:r>
              <a:rPr sz="2800" dirty="0">
                <a:solidFill>
                  <a:srgbClr val="FFE4E4"/>
                </a:solidFill>
                <a:latin typeface="Comic Sans MS" panose="030F0702030302020204" pitchFamily="66" charset="0"/>
                <a:cs typeface="Arial MT"/>
              </a:rPr>
              <a:t>risk</a:t>
            </a:r>
            <a:r>
              <a:rPr sz="2800" spc="50" dirty="0">
                <a:solidFill>
                  <a:srgbClr val="FFE4E4"/>
                </a:solidFill>
                <a:latin typeface="Comic Sans MS" panose="030F0702030302020204" pitchFamily="66" charset="0"/>
                <a:cs typeface="Arial MT"/>
              </a:rPr>
              <a:t> </a:t>
            </a:r>
            <a:r>
              <a:rPr sz="2800" spc="60" dirty="0">
                <a:solidFill>
                  <a:srgbClr val="FFE4E4"/>
                </a:solidFill>
                <a:latin typeface="Comic Sans MS" panose="030F0702030302020204" pitchFamily="66" charset="0"/>
                <a:cs typeface="Arial MT"/>
              </a:rPr>
              <a:t>of</a:t>
            </a:r>
            <a:r>
              <a:rPr sz="2800" spc="55" dirty="0">
                <a:solidFill>
                  <a:srgbClr val="FFE4E4"/>
                </a:solidFill>
                <a:latin typeface="Comic Sans MS" panose="030F0702030302020204" pitchFamily="66" charset="0"/>
                <a:cs typeface="Arial MT"/>
              </a:rPr>
              <a:t> </a:t>
            </a:r>
            <a:r>
              <a:rPr sz="2800" dirty="0">
                <a:solidFill>
                  <a:srgbClr val="FFE4E4"/>
                </a:solidFill>
                <a:latin typeface="Comic Sans MS" panose="030F0702030302020204" pitchFamily="66" charset="0"/>
                <a:cs typeface="Arial MT"/>
              </a:rPr>
              <a:t>heart</a:t>
            </a:r>
            <a:r>
              <a:rPr sz="2800" spc="50" dirty="0">
                <a:solidFill>
                  <a:srgbClr val="FFE4E4"/>
                </a:solidFill>
                <a:latin typeface="Comic Sans MS" panose="030F0702030302020204" pitchFamily="66" charset="0"/>
                <a:cs typeface="Arial MT"/>
              </a:rPr>
              <a:t> </a:t>
            </a:r>
            <a:r>
              <a:rPr sz="2800" spc="-10" dirty="0">
                <a:solidFill>
                  <a:srgbClr val="FFE4E4"/>
                </a:solidFill>
                <a:latin typeface="Comic Sans MS" panose="030F0702030302020204" pitchFamily="66" charset="0"/>
                <a:cs typeface="Arial MT"/>
              </a:rPr>
              <a:t>disease.</a:t>
            </a:r>
            <a:endParaRPr sz="2800" dirty="0">
              <a:latin typeface="Comic Sans MS" panose="030F0702030302020204" pitchFamily="66" charset="0"/>
              <a:cs typeface="Arial MT"/>
            </a:endParaRPr>
          </a:p>
          <a:p>
            <a:pPr algn="just">
              <a:lnSpc>
                <a:spcPct val="150000"/>
              </a:lnSpc>
            </a:pPr>
            <a:endParaRPr sz="2800" dirty="0">
              <a:latin typeface="Comic Sans MS" panose="030F0702030302020204" pitchFamily="66" charset="0"/>
              <a:cs typeface="Arial MT"/>
            </a:endParaRPr>
          </a:p>
          <a:p>
            <a:pPr algn="just">
              <a:lnSpc>
                <a:spcPct val="150000"/>
              </a:lnSpc>
              <a:spcBef>
                <a:spcPts val="190"/>
              </a:spcBef>
            </a:pPr>
            <a:endParaRPr sz="2800" dirty="0">
              <a:latin typeface="Comic Sans MS" panose="030F0702030302020204" pitchFamily="66" charset="0"/>
              <a:cs typeface="Arial MT"/>
            </a:endParaRPr>
          </a:p>
          <a:p>
            <a:pPr marL="12700" algn="just">
              <a:lnSpc>
                <a:spcPct val="150000"/>
              </a:lnSpc>
              <a:spcBef>
                <a:spcPts val="5"/>
              </a:spcBef>
              <a:tabLst>
                <a:tab pos="354965" algn="l"/>
              </a:tabLst>
            </a:pPr>
            <a:r>
              <a:rPr lang="en-GB" sz="2800" b="1" spc="-90" dirty="0" smtClean="0">
                <a:solidFill>
                  <a:srgbClr val="FFE4E4"/>
                </a:solidFill>
                <a:latin typeface="Comic Sans MS" panose="030F0702030302020204" pitchFamily="66" charset="0"/>
              </a:rPr>
              <a:t>1. </a:t>
            </a:r>
            <a:r>
              <a:rPr sz="2800" b="1" spc="-90" dirty="0" smtClean="0">
                <a:solidFill>
                  <a:srgbClr val="FFE4E4"/>
                </a:solidFill>
                <a:latin typeface="Comic Sans MS" panose="030F0702030302020204" pitchFamily="66" charset="0"/>
              </a:rPr>
              <a:t>Detection</a:t>
            </a:r>
            <a:r>
              <a:rPr sz="2800" b="1" spc="-90" dirty="0">
                <a:solidFill>
                  <a:srgbClr val="FFE4E4"/>
                </a:solidFill>
                <a:latin typeface="Comic Sans MS" panose="030F0702030302020204" pitchFamily="66" charset="0"/>
              </a:rPr>
              <a:t>:</a:t>
            </a:r>
            <a:r>
              <a:rPr sz="2800" b="1" spc="75" dirty="0">
                <a:solidFill>
                  <a:srgbClr val="FFE4E4"/>
                </a:solidFill>
                <a:latin typeface="Comic Sans MS" panose="030F0702030302020204" pitchFamily="66" charset="0"/>
              </a:rPr>
              <a:t> </a:t>
            </a:r>
            <a:r>
              <a:rPr sz="2800" spc="50" dirty="0">
                <a:solidFill>
                  <a:srgbClr val="FFE4E4"/>
                </a:solidFill>
                <a:latin typeface="Comic Sans MS" panose="030F0702030302020204" pitchFamily="66" charset="0"/>
                <a:cs typeface="Arial MT"/>
              </a:rPr>
              <a:t>Identify</a:t>
            </a:r>
            <a:r>
              <a:rPr sz="2800" spc="45" dirty="0">
                <a:solidFill>
                  <a:srgbClr val="FFE4E4"/>
                </a:solidFill>
                <a:latin typeface="Comic Sans MS" panose="030F0702030302020204" pitchFamily="66" charset="0"/>
                <a:cs typeface="Arial MT"/>
              </a:rPr>
              <a:t> </a:t>
            </a:r>
            <a:r>
              <a:rPr sz="2800" spc="125" dirty="0">
                <a:solidFill>
                  <a:srgbClr val="FFE4E4"/>
                </a:solidFill>
                <a:latin typeface="Comic Sans MS" panose="030F0702030302020204" pitchFamily="66" charset="0"/>
                <a:cs typeface="Arial MT"/>
              </a:rPr>
              <a:t>at-</a:t>
            </a:r>
            <a:r>
              <a:rPr sz="2800" dirty="0">
                <a:solidFill>
                  <a:srgbClr val="FFE4E4"/>
                </a:solidFill>
                <a:latin typeface="Comic Sans MS" panose="030F0702030302020204" pitchFamily="66" charset="0"/>
                <a:cs typeface="Arial MT"/>
              </a:rPr>
              <a:t>risk</a:t>
            </a:r>
            <a:r>
              <a:rPr sz="2800" spc="50" dirty="0">
                <a:solidFill>
                  <a:srgbClr val="FFE4E4"/>
                </a:solidFill>
                <a:latin typeface="Comic Sans MS" panose="030F0702030302020204" pitchFamily="66" charset="0"/>
                <a:cs typeface="Arial MT"/>
              </a:rPr>
              <a:t> </a:t>
            </a:r>
            <a:r>
              <a:rPr sz="2800" dirty="0">
                <a:solidFill>
                  <a:srgbClr val="FFE4E4"/>
                </a:solidFill>
                <a:latin typeface="Comic Sans MS" panose="030F0702030302020204" pitchFamily="66" charset="0"/>
                <a:cs typeface="Arial MT"/>
              </a:rPr>
              <a:t>individuals</a:t>
            </a:r>
            <a:r>
              <a:rPr sz="2800" spc="50" dirty="0">
                <a:solidFill>
                  <a:srgbClr val="FFE4E4"/>
                </a:solidFill>
                <a:latin typeface="Comic Sans MS" panose="030F0702030302020204" pitchFamily="66" charset="0"/>
                <a:cs typeface="Arial MT"/>
              </a:rPr>
              <a:t> before</a:t>
            </a:r>
            <a:r>
              <a:rPr sz="2800" spc="70" dirty="0">
                <a:solidFill>
                  <a:srgbClr val="FFE4E4"/>
                </a:solidFill>
                <a:latin typeface="Comic Sans MS" panose="030F0702030302020204" pitchFamily="66" charset="0"/>
                <a:cs typeface="Arial MT"/>
              </a:rPr>
              <a:t> </a:t>
            </a:r>
            <a:r>
              <a:rPr sz="2800" spc="65" dirty="0">
                <a:solidFill>
                  <a:srgbClr val="FFE4E4"/>
                </a:solidFill>
                <a:latin typeface="Comic Sans MS" panose="030F0702030302020204" pitchFamily="66" charset="0"/>
                <a:cs typeface="Arial MT"/>
              </a:rPr>
              <a:t>symptoms</a:t>
            </a:r>
            <a:r>
              <a:rPr sz="2800" spc="15" dirty="0">
                <a:solidFill>
                  <a:srgbClr val="FFE4E4"/>
                </a:solidFill>
                <a:latin typeface="Comic Sans MS" panose="030F0702030302020204" pitchFamily="66" charset="0"/>
                <a:cs typeface="Arial MT"/>
              </a:rPr>
              <a:t> </a:t>
            </a:r>
            <a:r>
              <a:rPr sz="2800" spc="60" dirty="0">
                <a:solidFill>
                  <a:srgbClr val="FFE4E4"/>
                </a:solidFill>
                <a:latin typeface="Comic Sans MS" panose="030F0702030302020204" pitchFamily="66" charset="0"/>
                <a:cs typeface="Arial MT"/>
              </a:rPr>
              <a:t>become</a:t>
            </a:r>
            <a:r>
              <a:rPr sz="2800" spc="45" dirty="0">
                <a:solidFill>
                  <a:srgbClr val="FFE4E4"/>
                </a:solidFill>
                <a:latin typeface="Comic Sans MS" panose="030F0702030302020204" pitchFamily="66" charset="0"/>
                <a:cs typeface="Arial MT"/>
              </a:rPr>
              <a:t> </a:t>
            </a:r>
            <a:r>
              <a:rPr sz="2800" spc="-10" dirty="0">
                <a:solidFill>
                  <a:srgbClr val="FFE4E4"/>
                </a:solidFill>
                <a:latin typeface="Comic Sans MS" panose="030F0702030302020204" pitchFamily="66" charset="0"/>
                <a:cs typeface="Arial MT"/>
              </a:rPr>
              <a:t>severe.</a:t>
            </a:r>
            <a:endParaRPr sz="2800" dirty="0">
              <a:latin typeface="Comic Sans MS" panose="030F0702030302020204" pitchFamily="66" charset="0"/>
              <a:cs typeface="Arial MT"/>
            </a:endParaRPr>
          </a:p>
          <a:p>
            <a:pPr marL="12700" algn="just">
              <a:lnSpc>
                <a:spcPct val="150000"/>
              </a:lnSpc>
              <a:spcBef>
                <a:spcPts val="1075"/>
              </a:spcBef>
              <a:tabLst>
                <a:tab pos="354965" algn="l"/>
              </a:tabLst>
            </a:pPr>
            <a:r>
              <a:rPr lang="en-GB" sz="2800" b="1" spc="-75" dirty="0" smtClean="0">
                <a:solidFill>
                  <a:srgbClr val="FFE4E4"/>
                </a:solidFill>
                <a:latin typeface="Comic Sans MS" panose="030F0702030302020204" pitchFamily="66" charset="0"/>
              </a:rPr>
              <a:t>2. </a:t>
            </a:r>
            <a:r>
              <a:rPr sz="2800" b="1" spc="-75" dirty="0" smtClean="0">
                <a:solidFill>
                  <a:srgbClr val="FFE4E4"/>
                </a:solidFill>
                <a:latin typeface="Comic Sans MS" panose="030F0702030302020204" pitchFamily="66" charset="0"/>
              </a:rPr>
              <a:t>Personalized</a:t>
            </a:r>
            <a:r>
              <a:rPr sz="2800" b="1" spc="-55" dirty="0" smtClean="0">
                <a:solidFill>
                  <a:srgbClr val="FFE4E4"/>
                </a:solidFill>
                <a:latin typeface="Comic Sans MS" panose="030F0702030302020204" pitchFamily="66" charset="0"/>
              </a:rPr>
              <a:t> </a:t>
            </a:r>
            <a:r>
              <a:rPr sz="2800" b="1" spc="-55" dirty="0">
                <a:solidFill>
                  <a:srgbClr val="FFE4E4"/>
                </a:solidFill>
                <a:latin typeface="Comic Sans MS" panose="030F0702030302020204" pitchFamily="66" charset="0"/>
              </a:rPr>
              <a:t>Risk</a:t>
            </a:r>
            <a:r>
              <a:rPr sz="2800" b="1" spc="-25" dirty="0">
                <a:solidFill>
                  <a:srgbClr val="FFE4E4"/>
                </a:solidFill>
                <a:latin typeface="Comic Sans MS" panose="030F0702030302020204" pitchFamily="66" charset="0"/>
              </a:rPr>
              <a:t> </a:t>
            </a:r>
            <a:r>
              <a:rPr sz="2800" b="1" spc="-45" dirty="0">
                <a:solidFill>
                  <a:srgbClr val="FFE4E4"/>
                </a:solidFill>
                <a:latin typeface="Comic Sans MS" panose="030F0702030302020204" pitchFamily="66" charset="0"/>
              </a:rPr>
              <a:t>Assessment:</a:t>
            </a:r>
            <a:r>
              <a:rPr sz="2800" b="1" spc="105" dirty="0">
                <a:solidFill>
                  <a:srgbClr val="FFE4E4"/>
                </a:solidFill>
                <a:latin typeface="Comic Sans MS" panose="030F0702030302020204" pitchFamily="66" charset="0"/>
              </a:rPr>
              <a:t> </a:t>
            </a:r>
            <a:r>
              <a:rPr sz="2800" dirty="0">
                <a:solidFill>
                  <a:srgbClr val="FFE4E4"/>
                </a:solidFill>
                <a:latin typeface="Comic Sans MS" panose="030F0702030302020204" pitchFamily="66" charset="0"/>
                <a:cs typeface="Arial MT"/>
              </a:rPr>
              <a:t>Tailor</a:t>
            </a:r>
            <a:r>
              <a:rPr sz="2800" spc="70" dirty="0">
                <a:solidFill>
                  <a:srgbClr val="FFE4E4"/>
                </a:solidFill>
                <a:latin typeface="Comic Sans MS" panose="030F0702030302020204" pitchFamily="66" charset="0"/>
                <a:cs typeface="Arial MT"/>
              </a:rPr>
              <a:t> </a:t>
            </a:r>
            <a:r>
              <a:rPr sz="2800" spc="55" dirty="0">
                <a:solidFill>
                  <a:srgbClr val="FFE4E4"/>
                </a:solidFill>
                <a:latin typeface="Comic Sans MS" panose="030F0702030302020204" pitchFamily="66" charset="0"/>
                <a:cs typeface="Arial MT"/>
              </a:rPr>
              <a:t>predictions</a:t>
            </a:r>
            <a:r>
              <a:rPr sz="2800" spc="65" dirty="0">
                <a:solidFill>
                  <a:srgbClr val="FFE4E4"/>
                </a:solidFill>
                <a:latin typeface="Comic Sans MS" panose="030F0702030302020204" pitchFamily="66" charset="0"/>
                <a:cs typeface="Arial MT"/>
              </a:rPr>
              <a:t> </a:t>
            </a:r>
            <a:r>
              <a:rPr sz="2800" dirty="0">
                <a:solidFill>
                  <a:srgbClr val="FFE4E4"/>
                </a:solidFill>
                <a:latin typeface="Comic Sans MS" panose="030F0702030302020204" pitchFamily="66" charset="0"/>
                <a:cs typeface="Arial MT"/>
              </a:rPr>
              <a:t>based</a:t>
            </a:r>
            <a:r>
              <a:rPr sz="2800" spc="55" dirty="0">
                <a:solidFill>
                  <a:srgbClr val="FFE4E4"/>
                </a:solidFill>
                <a:latin typeface="Comic Sans MS" panose="030F0702030302020204" pitchFamily="66" charset="0"/>
                <a:cs typeface="Arial MT"/>
              </a:rPr>
              <a:t> </a:t>
            </a:r>
            <a:r>
              <a:rPr sz="2800" dirty="0">
                <a:solidFill>
                  <a:srgbClr val="FFE4E4"/>
                </a:solidFill>
                <a:latin typeface="Comic Sans MS" panose="030F0702030302020204" pitchFamily="66" charset="0"/>
                <a:cs typeface="Arial MT"/>
              </a:rPr>
              <a:t>on</a:t>
            </a:r>
            <a:r>
              <a:rPr sz="2800" spc="70" dirty="0">
                <a:solidFill>
                  <a:srgbClr val="FFE4E4"/>
                </a:solidFill>
                <a:latin typeface="Comic Sans MS" panose="030F0702030302020204" pitchFamily="66" charset="0"/>
                <a:cs typeface="Arial MT"/>
              </a:rPr>
              <a:t> </a:t>
            </a:r>
            <a:r>
              <a:rPr sz="2800" dirty="0">
                <a:solidFill>
                  <a:srgbClr val="FFE4E4"/>
                </a:solidFill>
                <a:latin typeface="Comic Sans MS" panose="030F0702030302020204" pitchFamily="66" charset="0"/>
                <a:cs typeface="Arial MT"/>
              </a:rPr>
              <a:t>individual</a:t>
            </a:r>
            <a:r>
              <a:rPr sz="2800" spc="75" dirty="0">
                <a:solidFill>
                  <a:srgbClr val="FFE4E4"/>
                </a:solidFill>
                <a:latin typeface="Comic Sans MS" panose="030F0702030302020204" pitchFamily="66" charset="0"/>
                <a:cs typeface="Arial MT"/>
              </a:rPr>
              <a:t> </a:t>
            </a:r>
            <a:r>
              <a:rPr sz="2800" spc="60" dirty="0">
                <a:solidFill>
                  <a:srgbClr val="FFE4E4"/>
                </a:solidFill>
                <a:latin typeface="Comic Sans MS" panose="030F0702030302020204" pitchFamily="66" charset="0"/>
                <a:cs typeface="Arial MT"/>
              </a:rPr>
              <a:t>patient</a:t>
            </a:r>
            <a:r>
              <a:rPr sz="2800" spc="70" dirty="0">
                <a:solidFill>
                  <a:srgbClr val="FFE4E4"/>
                </a:solidFill>
                <a:latin typeface="Comic Sans MS" panose="030F0702030302020204" pitchFamily="66" charset="0"/>
                <a:cs typeface="Arial MT"/>
              </a:rPr>
              <a:t> </a:t>
            </a:r>
            <a:r>
              <a:rPr sz="2800" spc="-10" dirty="0">
                <a:solidFill>
                  <a:srgbClr val="FFE4E4"/>
                </a:solidFill>
                <a:latin typeface="Comic Sans MS" panose="030F0702030302020204" pitchFamily="66" charset="0"/>
                <a:cs typeface="Arial MT"/>
              </a:rPr>
              <a:t>profiles.</a:t>
            </a:r>
            <a:endParaRPr sz="2800" dirty="0">
              <a:latin typeface="Comic Sans MS" panose="030F0702030302020204" pitchFamily="66" charset="0"/>
              <a:cs typeface="Arial MT"/>
            </a:endParaRPr>
          </a:p>
          <a:p>
            <a:pPr marL="12700" algn="just">
              <a:lnSpc>
                <a:spcPct val="150000"/>
              </a:lnSpc>
              <a:spcBef>
                <a:spcPts val="1075"/>
              </a:spcBef>
              <a:tabLst>
                <a:tab pos="354965" algn="l"/>
              </a:tabLst>
            </a:pPr>
            <a:r>
              <a:rPr lang="en-GB" sz="2800" b="1" spc="-80" dirty="0" smtClean="0">
                <a:solidFill>
                  <a:srgbClr val="FFE4E4"/>
                </a:solidFill>
                <a:latin typeface="Comic Sans MS" panose="030F0702030302020204" pitchFamily="66" charset="0"/>
              </a:rPr>
              <a:t>3. </a:t>
            </a:r>
            <a:r>
              <a:rPr sz="2800" b="1" spc="-80" dirty="0" smtClean="0">
                <a:solidFill>
                  <a:srgbClr val="FFE4E4"/>
                </a:solidFill>
                <a:latin typeface="Comic Sans MS" panose="030F0702030302020204" pitchFamily="66" charset="0"/>
              </a:rPr>
              <a:t>Efficiency</a:t>
            </a:r>
            <a:r>
              <a:rPr sz="2800" b="1" spc="-80" dirty="0">
                <a:solidFill>
                  <a:srgbClr val="FFE4E4"/>
                </a:solidFill>
                <a:latin typeface="Comic Sans MS" panose="030F0702030302020204" pitchFamily="66" charset="0"/>
              </a:rPr>
              <a:t>:</a:t>
            </a:r>
            <a:r>
              <a:rPr sz="2800" b="1" spc="170" dirty="0">
                <a:solidFill>
                  <a:srgbClr val="FFE4E4"/>
                </a:solidFill>
                <a:latin typeface="Comic Sans MS" panose="030F0702030302020204" pitchFamily="66" charset="0"/>
              </a:rPr>
              <a:t> </a:t>
            </a:r>
            <a:r>
              <a:rPr sz="2800" spc="55" dirty="0">
                <a:solidFill>
                  <a:srgbClr val="FFE4E4"/>
                </a:solidFill>
                <a:latin typeface="Comic Sans MS" panose="030F0702030302020204" pitchFamily="66" charset="0"/>
                <a:cs typeface="Arial MT"/>
              </a:rPr>
              <a:t>Automate</a:t>
            </a:r>
            <a:r>
              <a:rPr sz="2800" spc="125" dirty="0">
                <a:solidFill>
                  <a:srgbClr val="FFE4E4"/>
                </a:solidFill>
                <a:latin typeface="Comic Sans MS" panose="030F0702030302020204" pitchFamily="66" charset="0"/>
                <a:cs typeface="Arial MT"/>
              </a:rPr>
              <a:t> </a:t>
            </a:r>
            <a:r>
              <a:rPr sz="2800" dirty="0">
                <a:solidFill>
                  <a:srgbClr val="FFE4E4"/>
                </a:solidFill>
                <a:latin typeface="Comic Sans MS" panose="030F0702030302020204" pitchFamily="66" charset="0"/>
                <a:cs typeface="Arial MT"/>
              </a:rPr>
              <a:t>and</a:t>
            </a:r>
            <a:r>
              <a:rPr sz="2800" spc="150" dirty="0">
                <a:solidFill>
                  <a:srgbClr val="FFE4E4"/>
                </a:solidFill>
                <a:latin typeface="Comic Sans MS" panose="030F0702030302020204" pitchFamily="66" charset="0"/>
                <a:cs typeface="Arial MT"/>
              </a:rPr>
              <a:t> </a:t>
            </a:r>
            <a:r>
              <a:rPr sz="2800" dirty="0">
                <a:solidFill>
                  <a:srgbClr val="FFE4E4"/>
                </a:solidFill>
                <a:latin typeface="Comic Sans MS" panose="030F0702030302020204" pitchFamily="66" charset="0"/>
                <a:cs typeface="Arial MT"/>
              </a:rPr>
              <a:t>accelerate</a:t>
            </a:r>
            <a:r>
              <a:rPr sz="2800" spc="180" dirty="0">
                <a:solidFill>
                  <a:srgbClr val="FFE4E4"/>
                </a:solidFill>
                <a:latin typeface="Comic Sans MS" panose="030F0702030302020204" pitchFamily="66" charset="0"/>
                <a:cs typeface="Arial MT"/>
              </a:rPr>
              <a:t> </a:t>
            </a:r>
            <a:r>
              <a:rPr sz="2800" spc="65" dirty="0">
                <a:solidFill>
                  <a:srgbClr val="FFE4E4"/>
                </a:solidFill>
                <a:latin typeface="Comic Sans MS" panose="030F0702030302020204" pitchFamily="66" charset="0"/>
                <a:cs typeface="Arial MT"/>
              </a:rPr>
              <a:t>the</a:t>
            </a:r>
            <a:r>
              <a:rPr sz="2800" spc="140" dirty="0">
                <a:solidFill>
                  <a:srgbClr val="FFE4E4"/>
                </a:solidFill>
                <a:latin typeface="Comic Sans MS" panose="030F0702030302020204" pitchFamily="66" charset="0"/>
                <a:cs typeface="Arial MT"/>
              </a:rPr>
              <a:t> </a:t>
            </a:r>
            <a:r>
              <a:rPr sz="2800" dirty="0">
                <a:solidFill>
                  <a:srgbClr val="FFE4E4"/>
                </a:solidFill>
                <a:latin typeface="Comic Sans MS" panose="030F0702030302020204" pitchFamily="66" charset="0"/>
                <a:cs typeface="Arial MT"/>
              </a:rPr>
              <a:t>diagnostic</a:t>
            </a:r>
            <a:r>
              <a:rPr sz="2800" spc="145" dirty="0">
                <a:solidFill>
                  <a:srgbClr val="FFE4E4"/>
                </a:solidFill>
                <a:latin typeface="Comic Sans MS" panose="030F0702030302020204" pitchFamily="66" charset="0"/>
                <a:cs typeface="Arial MT"/>
              </a:rPr>
              <a:t> </a:t>
            </a:r>
            <a:r>
              <a:rPr sz="2800" spc="-10" dirty="0">
                <a:solidFill>
                  <a:srgbClr val="FFE4E4"/>
                </a:solidFill>
                <a:latin typeface="Comic Sans MS" panose="030F0702030302020204" pitchFamily="66" charset="0"/>
                <a:cs typeface="Arial MT"/>
              </a:rPr>
              <a:t>process.</a:t>
            </a:r>
            <a:endParaRPr sz="2800" dirty="0">
              <a:latin typeface="Comic Sans MS" panose="030F0702030302020204" pitchFamily="66" charset="0"/>
              <a:cs typeface="Arial MT"/>
            </a:endParaRPr>
          </a:p>
          <a:p>
            <a:pPr marL="12700" algn="just">
              <a:lnSpc>
                <a:spcPct val="150000"/>
              </a:lnSpc>
              <a:spcBef>
                <a:spcPts val="1075"/>
              </a:spcBef>
              <a:tabLst>
                <a:tab pos="354965" algn="l"/>
              </a:tabLst>
            </a:pPr>
            <a:r>
              <a:rPr lang="en-GB" sz="2800" b="1" spc="-25" dirty="0" smtClean="0">
                <a:solidFill>
                  <a:srgbClr val="FFE4E4"/>
                </a:solidFill>
                <a:latin typeface="Comic Sans MS" panose="030F0702030302020204" pitchFamily="66" charset="0"/>
              </a:rPr>
              <a:t>4. </a:t>
            </a:r>
            <a:r>
              <a:rPr sz="2800" b="1" spc="-25" dirty="0" smtClean="0">
                <a:solidFill>
                  <a:srgbClr val="FFE4E4"/>
                </a:solidFill>
                <a:latin typeface="Comic Sans MS" panose="030F0702030302020204" pitchFamily="66" charset="0"/>
              </a:rPr>
              <a:t>Data-</a:t>
            </a:r>
            <a:r>
              <a:rPr sz="2800" b="1" spc="-70" dirty="0" smtClean="0">
                <a:solidFill>
                  <a:srgbClr val="FFE4E4"/>
                </a:solidFill>
                <a:latin typeface="Comic Sans MS" panose="030F0702030302020204" pitchFamily="66" charset="0"/>
              </a:rPr>
              <a:t>Driven</a:t>
            </a:r>
            <a:r>
              <a:rPr sz="2800" b="1" spc="-145" dirty="0" smtClean="0">
                <a:solidFill>
                  <a:srgbClr val="FFE4E4"/>
                </a:solidFill>
                <a:latin typeface="Comic Sans MS" panose="030F0702030302020204" pitchFamily="66" charset="0"/>
              </a:rPr>
              <a:t> </a:t>
            </a:r>
            <a:r>
              <a:rPr sz="2800" b="1" spc="-40" dirty="0">
                <a:solidFill>
                  <a:srgbClr val="FFE4E4"/>
                </a:solidFill>
                <a:latin typeface="Comic Sans MS" panose="030F0702030302020204" pitchFamily="66" charset="0"/>
              </a:rPr>
              <a:t>Insights:</a:t>
            </a:r>
            <a:r>
              <a:rPr sz="2800" b="1" spc="204" dirty="0">
                <a:solidFill>
                  <a:srgbClr val="FFE4E4"/>
                </a:solidFill>
                <a:latin typeface="Comic Sans MS" panose="030F0702030302020204" pitchFamily="66" charset="0"/>
              </a:rPr>
              <a:t> </a:t>
            </a:r>
            <a:r>
              <a:rPr sz="2800" dirty="0">
                <a:solidFill>
                  <a:srgbClr val="FFE4E4"/>
                </a:solidFill>
                <a:latin typeface="Comic Sans MS" panose="030F0702030302020204" pitchFamily="66" charset="0"/>
                <a:cs typeface="Arial MT"/>
              </a:rPr>
              <a:t>Uncover</a:t>
            </a:r>
            <a:r>
              <a:rPr sz="2800" spc="130" dirty="0">
                <a:solidFill>
                  <a:srgbClr val="FFE4E4"/>
                </a:solidFill>
                <a:latin typeface="Comic Sans MS" panose="030F0702030302020204" pitchFamily="66" charset="0"/>
                <a:cs typeface="Arial MT"/>
              </a:rPr>
              <a:t> </a:t>
            </a:r>
            <a:r>
              <a:rPr sz="2800" dirty="0">
                <a:solidFill>
                  <a:srgbClr val="FFE4E4"/>
                </a:solidFill>
                <a:latin typeface="Comic Sans MS" panose="030F0702030302020204" pitchFamily="66" charset="0"/>
                <a:cs typeface="Arial MT"/>
              </a:rPr>
              <a:t>hidden</a:t>
            </a:r>
            <a:r>
              <a:rPr sz="2800" spc="155" dirty="0">
                <a:solidFill>
                  <a:srgbClr val="FFE4E4"/>
                </a:solidFill>
                <a:latin typeface="Comic Sans MS" panose="030F0702030302020204" pitchFamily="66" charset="0"/>
                <a:cs typeface="Arial MT"/>
              </a:rPr>
              <a:t> </a:t>
            </a:r>
            <a:r>
              <a:rPr sz="2800" dirty="0">
                <a:solidFill>
                  <a:srgbClr val="FFE4E4"/>
                </a:solidFill>
                <a:latin typeface="Comic Sans MS" panose="030F0702030302020204" pitchFamily="66" charset="0"/>
                <a:cs typeface="Arial MT"/>
              </a:rPr>
              <a:t>correlations</a:t>
            </a:r>
            <a:r>
              <a:rPr sz="2800" spc="170" dirty="0">
                <a:solidFill>
                  <a:srgbClr val="FFE4E4"/>
                </a:solidFill>
                <a:latin typeface="Comic Sans MS" panose="030F0702030302020204" pitchFamily="66" charset="0"/>
                <a:cs typeface="Arial MT"/>
              </a:rPr>
              <a:t> </a:t>
            </a:r>
            <a:r>
              <a:rPr sz="2800" dirty="0">
                <a:solidFill>
                  <a:srgbClr val="FFE4E4"/>
                </a:solidFill>
                <a:latin typeface="Comic Sans MS" panose="030F0702030302020204" pitchFamily="66" charset="0"/>
                <a:cs typeface="Arial MT"/>
              </a:rPr>
              <a:t>within</a:t>
            </a:r>
            <a:r>
              <a:rPr sz="2800" spc="160" dirty="0">
                <a:solidFill>
                  <a:srgbClr val="FFE4E4"/>
                </a:solidFill>
                <a:latin typeface="Comic Sans MS" panose="030F0702030302020204" pitchFamily="66" charset="0"/>
                <a:cs typeface="Arial MT"/>
              </a:rPr>
              <a:t> </a:t>
            </a:r>
            <a:r>
              <a:rPr sz="2800" dirty="0">
                <a:solidFill>
                  <a:srgbClr val="FFE4E4"/>
                </a:solidFill>
                <a:latin typeface="Comic Sans MS" panose="030F0702030302020204" pitchFamily="66" charset="0"/>
                <a:cs typeface="Arial MT"/>
              </a:rPr>
              <a:t>vast</a:t>
            </a:r>
            <a:r>
              <a:rPr sz="2800" spc="170" dirty="0">
                <a:solidFill>
                  <a:srgbClr val="FFE4E4"/>
                </a:solidFill>
                <a:latin typeface="Comic Sans MS" panose="030F0702030302020204" pitchFamily="66" charset="0"/>
                <a:cs typeface="Arial MT"/>
              </a:rPr>
              <a:t> </a:t>
            </a:r>
            <a:r>
              <a:rPr sz="2800" spc="45" dirty="0">
                <a:solidFill>
                  <a:srgbClr val="FFE4E4"/>
                </a:solidFill>
                <a:latin typeface="Comic Sans MS" panose="030F0702030302020204" pitchFamily="66" charset="0"/>
                <a:cs typeface="Arial MT"/>
              </a:rPr>
              <a:t>medical</a:t>
            </a:r>
            <a:r>
              <a:rPr sz="2800" spc="155" dirty="0">
                <a:solidFill>
                  <a:srgbClr val="FFE4E4"/>
                </a:solidFill>
                <a:latin typeface="Comic Sans MS" panose="030F0702030302020204" pitchFamily="66" charset="0"/>
                <a:cs typeface="Arial MT"/>
              </a:rPr>
              <a:t> </a:t>
            </a:r>
            <a:r>
              <a:rPr sz="2800" spc="-10" dirty="0">
                <a:solidFill>
                  <a:srgbClr val="FFE4E4"/>
                </a:solidFill>
                <a:latin typeface="Comic Sans MS" panose="030F0702030302020204" pitchFamily="66" charset="0"/>
                <a:cs typeface="Arial MT"/>
              </a:rPr>
              <a:t>datasets.</a:t>
            </a:r>
            <a:endParaRPr sz="2800" dirty="0">
              <a:latin typeface="Comic Sans MS" panose="030F0702030302020204" pitchFamily="66" charset="0"/>
              <a:cs typeface="Arial MT"/>
            </a:endParaRPr>
          </a:p>
        </p:txBody>
      </p:sp>
    </p:spTree>
    <p:extLst>
      <p:ext uri="{BB962C8B-B14F-4D97-AF65-F5344CB8AC3E}">
        <p14:creationId xmlns:p14="http://schemas.microsoft.com/office/powerpoint/2010/main" val="38994973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pic>
        <p:nvPicPr>
          <p:cNvPr id="37" name="Picture 6" descr="abstrait numérique La technologie cerveau futuriste, ai artificiel  intelligence bleu arrière-plan, cyber science santé technologie, innovation  bavarder futur gros données, l'Internet réseau connexion, nuage  salut-technologie vecteur 33890724 Art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8288000" cy="10287000"/>
          </a:xfrm>
          <a:prstGeom prst="rect">
            <a:avLst/>
          </a:prstGeom>
          <a:noFill/>
          <a:extLst>
            <a:ext uri="{909E8E84-426E-40DD-AFC4-6F175D3DCCD1}">
              <a14:hiddenFill xmlns:a14="http://schemas.microsoft.com/office/drawing/2010/main">
                <a:solidFill>
                  <a:srgbClr val="FFFFFF"/>
                </a:solidFill>
              </a14:hiddenFill>
            </a:ext>
          </a:extLst>
        </p:spPr>
      </p:pic>
      <p:sp>
        <p:nvSpPr>
          <p:cNvPr id="112" name="Google Shape;112;p16"/>
          <p:cNvSpPr txBox="1"/>
          <p:nvPr/>
        </p:nvSpPr>
        <p:spPr>
          <a:xfrm>
            <a:off x="6705600" y="472439"/>
            <a:ext cx="4648200" cy="1107996"/>
          </a:xfrm>
          <a:prstGeom prst="rect">
            <a:avLst/>
          </a:prstGeom>
          <a:noFill/>
          <a:ln>
            <a:noFill/>
          </a:ln>
        </p:spPr>
        <p:txBody>
          <a:bodyPr spcFirstLastPara="1" wrap="square" lIns="0" tIns="0" rIns="0" bIns="0" anchor="t" anchorCtr="0">
            <a:spAutoFit/>
          </a:bodyPr>
          <a:lstStyle/>
          <a:p>
            <a:pPr marL="0" marR="0" lvl="0" indent="0" algn="l" rtl="0">
              <a:lnSpc>
                <a:spcPct val="90125"/>
              </a:lnSpc>
              <a:spcBef>
                <a:spcPts val="0"/>
              </a:spcBef>
              <a:spcAft>
                <a:spcPts val="0"/>
              </a:spcAft>
              <a:buNone/>
            </a:pPr>
            <a:r>
              <a:rPr lang="en-US" sz="8000" b="1" dirty="0" smtClean="0">
                <a:solidFill>
                  <a:schemeClr val="lt1"/>
                </a:solidFill>
                <a:latin typeface="Ink Free" panose="03080402000500000000" pitchFamily="66" charset="0"/>
                <a:ea typeface="Impact"/>
                <a:cs typeface="MV Boli" panose="02000500030200090000" pitchFamily="2" charset="0"/>
                <a:sym typeface="Impact"/>
              </a:rPr>
              <a:t>Process</a:t>
            </a:r>
            <a:endParaRPr sz="8000" b="1" dirty="0">
              <a:solidFill>
                <a:schemeClr val="lt1"/>
              </a:solidFill>
              <a:latin typeface="Ink Free" panose="03080402000500000000" pitchFamily="66" charset="0"/>
              <a:ea typeface="Impact"/>
              <a:cs typeface="MV Boli" panose="02000500030200090000" pitchFamily="2" charset="0"/>
              <a:sym typeface="Impact"/>
            </a:endParaRPr>
          </a:p>
        </p:txBody>
      </p:sp>
      <p:pic>
        <p:nvPicPr>
          <p:cNvPr id="1027" name="Picture 3" descr="162,800+ Human Heart Stock Photos, Pictures &amp; Royalty-Free Images - iStock  | Human heart illustration, Human heart icon, Human heart vecto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49000" y="1869996"/>
            <a:ext cx="6297438" cy="7364670"/>
          </a:xfrm>
          <a:prstGeom prst="snip2DiagRect">
            <a:avLst>
              <a:gd name="adj1" fmla="val 0"/>
              <a:gd name="adj2" fmla="val 6526"/>
            </a:avLst>
          </a:prstGeom>
          <a:solidFill>
            <a:srgbClr val="FFFFFF">
              <a:shade val="85000"/>
            </a:srgbClr>
          </a:solidFill>
          <a:ln w="28575" cap="sq">
            <a:solidFill>
              <a:srgbClr val="FF0000"/>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a:extLst/>
        </p:spPr>
      </p:pic>
      <p:grpSp>
        <p:nvGrpSpPr>
          <p:cNvPr id="3" name="Group 2"/>
          <p:cNvGrpSpPr/>
          <p:nvPr/>
        </p:nvGrpSpPr>
        <p:grpSpPr>
          <a:xfrm>
            <a:off x="552450" y="1908094"/>
            <a:ext cx="9554988" cy="3422283"/>
            <a:chOff x="552450" y="1908094"/>
            <a:chExt cx="9554988" cy="3422283"/>
          </a:xfrm>
        </p:grpSpPr>
        <p:grpSp>
          <p:nvGrpSpPr>
            <p:cNvPr id="2" name="Group 1"/>
            <p:cNvGrpSpPr/>
            <p:nvPr/>
          </p:nvGrpSpPr>
          <p:grpSpPr>
            <a:xfrm>
              <a:off x="552450" y="1908094"/>
              <a:ext cx="9554988" cy="2653026"/>
              <a:chOff x="552450" y="1908094"/>
              <a:chExt cx="9554988" cy="2653026"/>
            </a:xfrm>
          </p:grpSpPr>
          <p:pic>
            <p:nvPicPr>
              <p:cNvPr id="6" name="object 5"/>
              <p:cNvPicPr/>
              <p:nvPr/>
            </p:nvPicPr>
            <p:blipFill>
              <a:blip r:embed="rId5" cstate="print"/>
              <a:stretch>
                <a:fillRect/>
              </a:stretch>
            </p:blipFill>
            <p:spPr>
              <a:xfrm>
                <a:off x="552450" y="1908094"/>
                <a:ext cx="9554988" cy="1912798"/>
              </a:xfrm>
              <a:prstGeom prst="rect">
                <a:avLst/>
              </a:prstGeom>
            </p:spPr>
          </p:pic>
          <p:pic>
            <p:nvPicPr>
              <p:cNvPr id="10" name="object 5"/>
              <p:cNvPicPr/>
              <p:nvPr/>
            </p:nvPicPr>
            <p:blipFill>
              <a:blip r:embed="rId5" cstate="print"/>
              <a:stretch>
                <a:fillRect/>
              </a:stretch>
            </p:blipFill>
            <p:spPr>
              <a:xfrm>
                <a:off x="552450" y="2648322"/>
                <a:ext cx="9554988" cy="1912798"/>
              </a:xfrm>
              <a:prstGeom prst="rect">
                <a:avLst/>
              </a:prstGeom>
            </p:spPr>
          </p:pic>
        </p:grpSp>
        <p:pic>
          <p:nvPicPr>
            <p:cNvPr id="11" name="object 5"/>
            <p:cNvPicPr/>
            <p:nvPr/>
          </p:nvPicPr>
          <p:blipFill>
            <a:blip r:embed="rId5" cstate="print"/>
            <a:stretch>
              <a:fillRect/>
            </a:stretch>
          </p:blipFill>
          <p:spPr>
            <a:xfrm>
              <a:off x="552450" y="3417579"/>
              <a:ext cx="9554988" cy="1912798"/>
            </a:xfrm>
            <a:prstGeom prst="rect">
              <a:avLst/>
            </a:prstGeom>
          </p:spPr>
        </p:pic>
      </p:grpSp>
      <p:grpSp>
        <p:nvGrpSpPr>
          <p:cNvPr id="18" name="Group 17"/>
          <p:cNvGrpSpPr/>
          <p:nvPr/>
        </p:nvGrpSpPr>
        <p:grpSpPr>
          <a:xfrm>
            <a:off x="552450" y="4128782"/>
            <a:ext cx="9554988" cy="2653026"/>
            <a:chOff x="552450" y="1908094"/>
            <a:chExt cx="9554988" cy="2653026"/>
          </a:xfrm>
        </p:grpSpPr>
        <p:pic>
          <p:nvPicPr>
            <p:cNvPr id="20" name="object 5"/>
            <p:cNvPicPr/>
            <p:nvPr/>
          </p:nvPicPr>
          <p:blipFill>
            <a:blip r:embed="rId5" cstate="print"/>
            <a:stretch>
              <a:fillRect/>
            </a:stretch>
          </p:blipFill>
          <p:spPr>
            <a:xfrm>
              <a:off x="552450" y="1908094"/>
              <a:ext cx="9554988" cy="1912798"/>
            </a:xfrm>
            <a:prstGeom prst="rect">
              <a:avLst/>
            </a:prstGeom>
          </p:spPr>
        </p:pic>
        <p:pic>
          <p:nvPicPr>
            <p:cNvPr id="21" name="object 5"/>
            <p:cNvPicPr/>
            <p:nvPr/>
          </p:nvPicPr>
          <p:blipFill>
            <a:blip r:embed="rId5" cstate="print"/>
            <a:stretch>
              <a:fillRect/>
            </a:stretch>
          </p:blipFill>
          <p:spPr>
            <a:xfrm>
              <a:off x="552450" y="2648322"/>
              <a:ext cx="9554988" cy="1912798"/>
            </a:xfrm>
            <a:prstGeom prst="rect">
              <a:avLst/>
            </a:prstGeom>
          </p:spPr>
        </p:pic>
      </p:grpSp>
      <p:pic>
        <p:nvPicPr>
          <p:cNvPr id="19" name="object 5"/>
          <p:cNvPicPr/>
          <p:nvPr/>
        </p:nvPicPr>
        <p:blipFill>
          <a:blip r:embed="rId5" cstate="print"/>
          <a:stretch>
            <a:fillRect/>
          </a:stretch>
        </p:blipFill>
        <p:spPr>
          <a:xfrm>
            <a:off x="552450" y="5638267"/>
            <a:ext cx="9554988" cy="1912798"/>
          </a:xfrm>
          <a:prstGeom prst="rect">
            <a:avLst/>
          </a:prstGeom>
        </p:spPr>
      </p:pic>
      <p:grpSp>
        <p:nvGrpSpPr>
          <p:cNvPr id="23" name="Group 22"/>
          <p:cNvGrpSpPr/>
          <p:nvPr/>
        </p:nvGrpSpPr>
        <p:grpSpPr>
          <a:xfrm>
            <a:off x="552450" y="6349470"/>
            <a:ext cx="9554988" cy="2653026"/>
            <a:chOff x="552450" y="1908094"/>
            <a:chExt cx="9554988" cy="2653026"/>
          </a:xfrm>
        </p:grpSpPr>
        <p:pic>
          <p:nvPicPr>
            <p:cNvPr id="25" name="object 5"/>
            <p:cNvPicPr/>
            <p:nvPr/>
          </p:nvPicPr>
          <p:blipFill>
            <a:blip r:embed="rId5" cstate="print"/>
            <a:stretch>
              <a:fillRect/>
            </a:stretch>
          </p:blipFill>
          <p:spPr>
            <a:xfrm>
              <a:off x="552450" y="1908094"/>
              <a:ext cx="9554988" cy="1912798"/>
            </a:xfrm>
            <a:prstGeom prst="rect">
              <a:avLst/>
            </a:prstGeom>
          </p:spPr>
        </p:pic>
        <p:pic>
          <p:nvPicPr>
            <p:cNvPr id="26" name="object 5"/>
            <p:cNvPicPr/>
            <p:nvPr/>
          </p:nvPicPr>
          <p:blipFill>
            <a:blip r:embed="rId5" cstate="print"/>
            <a:stretch>
              <a:fillRect/>
            </a:stretch>
          </p:blipFill>
          <p:spPr>
            <a:xfrm>
              <a:off x="552450" y="2648322"/>
              <a:ext cx="9554988" cy="1912798"/>
            </a:xfrm>
            <a:prstGeom prst="rect">
              <a:avLst/>
            </a:prstGeom>
          </p:spPr>
        </p:pic>
      </p:grpSp>
      <p:pic>
        <p:nvPicPr>
          <p:cNvPr id="24" name="object 5"/>
          <p:cNvPicPr/>
          <p:nvPr/>
        </p:nvPicPr>
        <p:blipFill>
          <a:blip r:embed="rId5" cstate="print"/>
          <a:stretch>
            <a:fillRect/>
          </a:stretch>
        </p:blipFill>
        <p:spPr>
          <a:xfrm>
            <a:off x="552450" y="7858955"/>
            <a:ext cx="9554988" cy="1912798"/>
          </a:xfrm>
          <a:prstGeom prst="rect">
            <a:avLst/>
          </a:prstGeom>
        </p:spPr>
      </p:pic>
      <p:pic>
        <p:nvPicPr>
          <p:cNvPr id="27" name="object 5"/>
          <p:cNvPicPr/>
          <p:nvPr/>
        </p:nvPicPr>
        <p:blipFill>
          <a:blip r:embed="rId5" cstate="print"/>
          <a:stretch>
            <a:fillRect/>
          </a:stretch>
        </p:blipFill>
        <p:spPr>
          <a:xfrm>
            <a:off x="552450" y="8570155"/>
            <a:ext cx="9554988" cy="1912798"/>
          </a:xfrm>
          <a:prstGeom prst="rect">
            <a:avLst/>
          </a:prstGeom>
        </p:spPr>
      </p:pic>
      <p:sp>
        <p:nvSpPr>
          <p:cNvPr id="50" name="Rectangle 49"/>
          <p:cNvSpPr/>
          <p:nvPr/>
        </p:nvSpPr>
        <p:spPr>
          <a:xfrm>
            <a:off x="552450" y="1869996"/>
            <a:ext cx="10210800" cy="7478970"/>
          </a:xfrm>
          <a:prstGeom prst="rect">
            <a:avLst/>
          </a:prstGeom>
        </p:spPr>
        <p:txBody>
          <a:bodyPr wrap="square">
            <a:spAutoFit/>
          </a:bodyPr>
          <a:lstStyle/>
          <a:p>
            <a:pPr marL="457200" lvl="0" indent="-457200" eaLnBrk="0" fontAlgn="base" hangingPunct="0">
              <a:lnSpc>
                <a:spcPct val="150000"/>
              </a:lnSpc>
              <a:spcBef>
                <a:spcPct val="0"/>
              </a:spcBef>
              <a:spcAft>
                <a:spcPct val="0"/>
              </a:spcAft>
              <a:buClrTx/>
              <a:buFont typeface="Wingdings" panose="05000000000000000000" pitchFamily="2" charset="2"/>
              <a:buChar char="q"/>
            </a:pPr>
            <a:r>
              <a:rPr lang="en-US" altLang="en-US" sz="3200" b="1" dirty="0">
                <a:solidFill>
                  <a:schemeClr val="bg1"/>
                </a:solidFill>
                <a:latin typeface="Comic Sans MS" panose="030F0702030302020204" pitchFamily="66" charset="0"/>
              </a:rPr>
              <a:t>Load Dataset</a:t>
            </a:r>
            <a:endParaRPr lang="en-US" altLang="en-US" sz="3200" dirty="0">
              <a:solidFill>
                <a:schemeClr val="bg1"/>
              </a:solidFill>
              <a:latin typeface="Comic Sans MS" panose="030F0702030302020204" pitchFamily="66" charset="0"/>
            </a:endParaRPr>
          </a:p>
          <a:p>
            <a:pPr marL="457200" lvl="0" indent="-457200" eaLnBrk="0" fontAlgn="base" hangingPunct="0">
              <a:lnSpc>
                <a:spcPct val="150000"/>
              </a:lnSpc>
              <a:spcBef>
                <a:spcPct val="0"/>
              </a:spcBef>
              <a:spcAft>
                <a:spcPct val="0"/>
              </a:spcAft>
              <a:buClrTx/>
              <a:buFont typeface="Wingdings" panose="05000000000000000000" pitchFamily="2" charset="2"/>
              <a:buChar char="q"/>
            </a:pPr>
            <a:r>
              <a:rPr lang="en-US" altLang="en-US" sz="3200" b="1" dirty="0">
                <a:solidFill>
                  <a:schemeClr val="bg1"/>
                </a:solidFill>
                <a:latin typeface="Comic Sans MS" panose="030F0702030302020204" pitchFamily="66" charset="0"/>
              </a:rPr>
              <a:t>Import Required Libraries</a:t>
            </a:r>
            <a:endParaRPr lang="en-US" altLang="en-US" sz="3200" dirty="0">
              <a:solidFill>
                <a:schemeClr val="bg1"/>
              </a:solidFill>
              <a:latin typeface="Comic Sans MS" panose="030F0702030302020204" pitchFamily="66" charset="0"/>
            </a:endParaRPr>
          </a:p>
          <a:p>
            <a:pPr marL="457200" lvl="0" indent="-457200" eaLnBrk="0" fontAlgn="base" hangingPunct="0">
              <a:lnSpc>
                <a:spcPct val="150000"/>
              </a:lnSpc>
              <a:spcBef>
                <a:spcPct val="0"/>
              </a:spcBef>
              <a:spcAft>
                <a:spcPct val="0"/>
              </a:spcAft>
              <a:buClrTx/>
              <a:buFont typeface="Wingdings" panose="05000000000000000000" pitchFamily="2" charset="2"/>
              <a:buChar char="q"/>
            </a:pPr>
            <a:r>
              <a:rPr lang="en-US" altLang="en-US" sz="3200" b="1" dirty="0">
                <a:solidFill>
                  <a:schemeClr val="bg1"/>
                </a:solidFill>
                <a:latin typeface="Comic Sans MS" panose="030F0702030302020204" pitchFamily="66" charset="0"/>
              </a:rPr>
              <a:t>Data Cleaning &amp; Preprocessing</a:t>
            </a:r>
            <a:endParaRPr lang="en-US" altLang="en-US" sz="3200" dirty="0">
              <a:solidFill>
                <a:schemeClr val="bg1"/>
              </a:solidFill>
              <a:latin typeface="Comic Sans MS" panose="030F0702030302020204" pitchFamily="66" charset="0"/>
            </a:endParaRPr>
          </a:p>
          <a:p>
            <a:pPr marL="457200" lvl="0" indent="-457200" eaLnBrk="0" fontAlgn="base" hangingPunct="0">
              <a:lnSpc>
                <a:spcPct val="150000"/>
              </a:lnSpc>
              <a:spcBef>
                <a:spcPct val="0"/>
              </a:spcBef>
              <a:spcAft>
                <a:spcPct val="0"/>
              </a:spcAft>
              <a:buClrTx/>
              <a:buFont typeface="Wingdings" panose="05000000000000000000" pitchFamily="2" charset="2"/>
              <a:buChar char="q"/>
            </a:pPr>
            <a:r>
              <a:rPr lang="en-US" altLang="en-US" sz="3200" b="1" dirty="0">
                <a:solidFill>
                  <a:schemeClr val="bg1"/>
                </a:solidFill>
                <a:latin typeface="Comic Sans MS" panose="030F0702030302020204" pitchFamily="66" charset="0"/>
              </a:rPr>
              <a:t>Exploratory Data Analysis (EDA)</a:t>
            </a:r>
            <a:endParaRPr lang="en-US" altLang="en-US" sz="3200" dirty="0">
              <a:solidFill>
                <a:schemeClr val="bg1"/>
              </a:solidFill>
              <a:latin typeface="Comic Sans MS" panose="030F0702030302020204" pitchFamily="66" charset="0"/>
            </a:endParaRPr>
          </a:p>
          <a:p>
            <a:pPr marL="457200" lvl="0" indent="-457200" eaLnBrk="0" fontAlgn="base" hangingPunct="0">
              <a:lnSpc>
                <a:spcPct val="150000"/>
              </a:lnSpc>
              <a:spcBef>
                <a:spcPct val="0"/>
              </a:spcBef>
              <a:spcAft>
                <a:spcPct val="0"/>
              </a:spcAft>
              <a:buClrTx/>
              <a:buFont typeface="Wingdings" panose="05000000000000000000" pitchFamily="2" charset="2"/>
              <a:buChar char="q"/>
            </a:pPr>
            <a:r>
              <a:rPr lang="en-US" altLang="en-US" sz="3200" b="1" dirty="0" smtClean="0">
                <a:solidFill>
                  <a:schemeClr val="bg1"/>
                </a:solidFill>
                <a:latin typeface="Comic Sans MS" panose="030F0702030302020204" pitchFamily="66" charset="0"/>
              </a:rPr>
              <a:t>Feature Scaling</a:t>
            </a:r>
            <a:endParaRPr lang="en-US" altLang="en-US" sz="3200" dirty="0" smtClean="0">
              <a:solidFill>
                <a:schemeClr val="bg1"/>
              </a:solidFill>
              <a:latin typeface="Comic Sans MS" panose="030F0702030302020204" pitchFamily="66" charset="0"/>
            </a:endParaRPr>
          </a:p>
          <a:p>
            <a:pPr marL="457200" lvl="0" indent="-457200" eaLnBrk="0" fontAlgn="base" hangingPunct="0">
              <a:lnSpc>
                <a:spcPct val="150000"/>
              </a:lnSpc>
              <a:spcBef>
                <a:spcPct val="0"/>
              </a:spcBef>
              <a:spcAft>
                <a:spcPct val="0"/>
              </a:spcAft>
              <a:buClrTx/>
              <a:buFont typeface="Wingdings" panose="05000000000000000000" pitchFamily="2" charset="2"/>
              <a:buChar char="q"/>
            </a:pPr>
            <a:r>
              <a:rPr lang="en-US" altLang="en-US" sz="3200" b="1" dirty="0" smtClean="0">
                <a:solidFill>
                  <a:schemeClr val="bg1"/>
                </a:solidFill>
                <a:latin typeface="Comic Sans MS" panose="030F0702030302020204" pitchFamily="66" charset="0"/>
              </a:rPr>
              <a:t>Train–Test Split</a:t>
            </a:r>
            <a:endParaRPr lang="en-US" altLang="en-US" sz="3200" dirty="0" smtClean="0">
              <a:solidFill>
                <a:schemeClr val="bg1"/>
              </a:solidFill>
              <a:latin typeface="Comic Sans MS" panose="030F0702030302020204" pitchFamily="66" charset="0"/>
            </a:endParaRPr>
          </a:p>
          <a:p>
            <a:pPr marL="457200" lvl="0" indent="-457200" eaLnBrk="0" fontAlgn="base" hangingPunct="0">
              <a:lnSpc>
                <a:spcPct val="150000"/>
              </a:lnSpc>
              <a:spcBef>
                <a:spcPct val="0"/>
              </a:spcBef>
              <a:spcAft>
                <a:spcPct val="0"/>
              </a:spcAft>
              <a:buClrTx/>
              <a:buFont typeface="Wingdings" panose="05000000000000000000" pitchFamily="2" charset="2"/>
              <a:buChar char="q"/>
            </a:pPr>
            <a:r>
              <a:rPr lang="en-US" altLang="en-US" sz="3200" b="1" dirty="0" smtClean="0">
                <a:solidFill>
                  <a:schemeClr val="bg1"/>
                </a:solidFill>
                <a:latin typeface="Comic Sans MS" panose="030F0702030302020204" pitchFamily="66" charset="0"/>
              </a:rPr>
              <a:t>Apply </a:t>
            </a:r>
            <a:r>
              <a:rPr lang="en-US" altLang="en-US" sz="3200" b="1" dirty="0">
                <a:solidFill>
                  <a:schemeClr val="bg1"/>
                </a:solidFill>
                <a:latin typeface="Comic Sans MS" panose="030F0702030302020204" pitchFamily="66" charset="0"/>
              </a:rPr>
              <a:t>Multiple Classification Algorithms</a:t>
            </a:r>
            <a:endParaRPr lang="en-US" altLang="en-US" sz="3200" dirty="0">
              <a:solidFill>
                <a:schemeClr val="bg1"/>
              </a:solidFill>
              <a:latin typeface="Comic Sans MS" panose="030F0702030302020204" pitchFamily="66" charset="0"/>
            </a:endParaRPr>
          </a:p>
          <a:p>
            <a:pPr marL="457200" lvl="0" indent="-457200" eaLnBrk="0" fontAlgn="base" hangingPunct="0">
              <a:lnSpc>
                <a:spcPct val="150000"/>
              </a:lnSpc>
              <a:spcBef>
                <a:spcPct val="0"/>
              </a:spcBef>
              <a:spcAft>
                <a:spcPct val="0"/>
              </a:spcAft>
              <a:buClrTx/>
              <a:buFont typeface="Wingdings" panose="05000000000000000000" pitchFamily="2" charset="2"/>
              <a:buChar char="q"/>
            </a:pPr>
            <a:r>
              <a:rPr lang="en-US" altLang="en-US" sz="3200" b="1" dirty="0">
                <a:solidFill>
                  <a:schemeClr val="bg1"/>
                </a:solidFill>
                <a:latin typeface="Comic Sans MS" panose="030F0702030302020204" pitchFamily="66" charset="0"/>
              </a:rPr>
              <a:t>Model Evaluation using Accuracy, F1, AUC</a:t>
            </a:r>
            <a:endParaRPr lang="en-US" altLang="en-US" sz="3200" dirty="0">
              <a:solidFill>
                <a:schemeClr val="bg1"/>
              </a:solidFill>
              <a:latin typeface="Comic Sans MS" panose="030F0702030302020204" pitchFamily="66" charset="0"/>
            </a:endParaRPr>
          </a:p>
          <a:p>
            <a:pPr marL="457200" lvl="0" indent="-457200" eaLnBrk="0" fontAlgn="base" hangingPunct="0">
              <a:lnSpc>
                <a:spcPct val="150000"/>
              </a:lnSpc>
              <a:spcBef>
                <a:spcPct val="0"/>
              </a:spcBef>
              <a:spcAft>
                <a:spcPct val="0"/>
              </a:spcAft>
              <a:buClrTx/>
              <a:buFont typeface="Wingdings" panose="05000000000000000000" pitchFamily="2" charset="2"/>
              <a:buChar char="q"/>
            </a:pPr>
            <a:r>
              <a:rPr lang="en-US" altLang="en-US" sz="3200" b="1" dirty="0">
                <a:solidFill>
                  <a:schemeClr val="bg1"/>
                </a:solidFill>
                <a:latin typeface="Comic Sans MS" panose="030F0702030302020204" pitchFamily="66" charset="0"/>
              </a:rPr>
              <a:t>Select Best Model</a:t>
            </a:r>
            <a:endParaRPr lang="en-US" altLang="en-US" sz="3200" dirty="0">
              <a:solidFill>
                <a:schemeClr val="bg1"/>
              </a:solidFill>
              <a:latin typeface="Comic Sans MS" panose="030F0702030302020204" pitchFamily="66" charset="0"/>
            </a:endParaRPr>
          </a:p>
          <a:p>
            <a:pPr marL="457200" lvl="0" indent="-457200" eaLnBrk="0" fontAlgn="base" hangingPunct="0">
              <a:lnSpc>
                <a:spcPct val="150000"/>
              </a:lnSpc>
              <a:spcBef>
                <a:spcPct val="0"/>
              </a:spcBef>
              <a:spcAft>
                <a:spcPct val="0"/>
              </a:spcAft>
              <a:buClrTx/>
              <a:buFont typeface="Wingdings" panose="05000000000000000000" pitchFamily="2" charset="2"/>
              <a:buChar char="q"/>
            </a:pPr>
            <a:r>
              <a:rPr lang="en-US" altLang="en-US" sz="3200" b="1" dirty="0">
                <a:solidFill>
                  <a:schemeClr val="bg1"/>
                </a:solidFill>
                <a:latin typeface="Comic Sans MS" panose="030F0702030302020204" pitchFamily="66" charset="0"/>
              </a:rPr>
              <a:t>Make </a:t>
            </a:r>
            <a:r>
              <a:rPr lang="en-US" altLang="en-US" sz="3200" b="1" dirty="0" smtClean="0">
                <a:solidFill>
                  <a:schemeClr val="bg1"/>
                </a:solidFill>
                <a:latin typeface="Comic Sans MS" panose="030F0702030302020204" pitchFamily="66" charset="0"/>
              </a:rPr>
              <a:t>Predictions</a:t>
            </a:r>
            <a:endParaRPr lang="en-US" altLang="en-US" sz="3200" dirty="0">
              <a:solidFill>
                <a:schemeClr val="bg1"/>
              </a:solidFill>
              <a:latin typeface="Comic Sans MS" panose="030F0702030302020204" pitchFamily="66"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2"/>
                                        </p:tgtEl>
                                        <p:attrNameLst>
                                          <p:attrName>style.visibility</p:attrName>
                                        </p:attrNameLst>
                                      </p:cBhvr>
                                      <p:to>
                                        <p:strVal val="visible"/>
                                      </p:to>
                                    </p:set>
                                    <p:anim calcmode="lin" valueType="num">
                                      <p:cBhvr additive="base">
                                        <p:cTn id="7" dur="500"/>
                                        <p:tgtEl>
                                          <p:spTgt spid="1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pic>
        <p:nvPicPr>
          <p:cNvPr id="9" name="Picture 6" descr="abstrait numérique La technologie cerveau futuriste, ai artificiel  intelligence bleu arrière-plan, cyber science santé technologie, innovation  bavarder futur gros données, l'Internet réseau connexion, nuage  salut-technologie vecteur 33890724 Art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8288000" cy="10287000"/>
          </a:xfrm>
          <a:prstGeom prst="rect">
            <a:avLst/>
          </a:prstGeom>
          <a:noFill/>
          <a:extLst>
            <a:ext uri="{909E8E84-426E-40DD-AFC4-6F175D3DCCD1}">
              <a14:hiddenFill xmlns:a14="http://schemas.microsoft.com/office/drawing/2010/main">
                <a:solidFill>
                  <a:srgbClr val="FFFFFF"/>
                </a:solidFill>
              </a14:hiddenFill>
            </a:ext>
          </a:extLst>
        </p:spPr>
      </p:pic>
      <p:sp>
        <p:nvSpPr>
          <p:cNvPr id="163" name="Google Shape;163;p17"/>
          <p:cNvSpPr txBox="1"/>
          <p:nvPr/>
        </p:nvSpPr>
        <p:spPr>
          <a:xfrm>
            <a:off x="6273499" y="724509"/>
            <a:ext cx="6122004" cy="1107996"/>
          </a:xfrm>
          <a:prstGeom prst="rect">
            <a:avLst/>
          </a:prstGeom>
          <a:noFill/>
          <a:ln>
            <a:noFill/>
          </a:ln>
        </p:spPr>
        <p:txBody>
          <a:bodyPr spcFirstLastPara="1" wrap="square" lIns="0" tIns="0" rIns="0" bIns="0" anchor="t" anchorCtr="0">
            <a:spAutoFit/>
          </a:bodyPr>
          <a:lstStyle/>
          <a:p>
            <a:pPr marL="0" marR="0" lvl="0" indent="0" algn="l" rtl="0">
              <a:lnSpc>
                <a:spcPct val="90125"/>
              </a:lnSpc>
              <a:spcBef>
                <a:spcPts val="0"/>
              </a:spcBef>
              <a:spcAft>
                <a:spcPts val="0"/>
              </a:spcAft>
              <a:buNone/>
            </a:pPr>
            <a:r>
              <a:rPr lang="en-US" sz="8000" b="1" dirty="0" smtClean="0">
                <a:solidFill>
                  <a:schemeClr val="lt1"/>
                </a:solidFill>
                <a:latin typeface="Ink Free" panose="03080402000500000000" pitchFamily="66" charset="0"/>
                <a:ea typeface="Impact"/>
                <a:cs typeface="MV Boli" panose="02000500030200090000" pitchFamily="2" charset="0"/>
                <a:sym typeface="Impact"/>
              </a:rPr>
              <a:t>Encoding</a:t>
            </a:r>
            <a:endParaRPr sz="8000" b="1" dirty="0">
              <a:solidFill>
                <a:schemeClr val="lt1"/>
              </a:solidFill>
              <a:latin typeface="Ink Free" panose="03080402000500000000" pitchFamily="66" charset="0"/>
              <a:ea typeface="Impact"/>
              <a:cs typeface="MV Boli" panose="02000500030200090000" pitchFamily="2" charset="0"/>
              <a:sym typeface="Impact"/>
            </a:endParaRPr>
          </a:p>
        </p:txBody>
      </p:sp>
      <p:sp>
        <p:nvSpPr>
          <p:cNvPr id="164" name="Google Shape;164;p17"/>
          <p:cNvSpPr/>
          <p:nvPr/>
        </p:nvSpPr>
        <p:spPr>
          <a:xfrm>
            <a:off x="723900" y="1573543"/>
            <a:ext cx="7962900" cy="4647945"/>
          </a:xfrm>
          <a:prstGeom prst="rect">
            <a:avLst/>
          </a:prstGeom>
          <a:noFill/>
          <a:ln>
            <a:noFill/>
          </a:ln>
        </p:spPr>
        <p:txBody>
          <a:bodyPr spcFirstLastPara="1" wrap="square" lIns="91425" tIns="45700" rIns="91425" bIns="45700" anchor="ctr" anchorCtr="0">
            <a:noAutofit/>
          </a:bodyPr>
          <a:lstStyle/>
          <a:p>
            <a:pPr algn="just">
              <a:lnSpc>
                <a:spcPct val="150000"/>
              </a:lnSpc>
            </a:pPr>
            <a:r>
              <a:rPr lang="en-GB" sz="3200" b="1" dirty="0">
                <a:solidFill>
                  <a:schemeClr val="bg1"/>
                </a:solidFill>
                <a:latin typeface="Comic Sans MS" panose="030F0702030302020204" pitchFamily="66" charset="0"/>
              </a:rPr>
              <a:t>1. Label </a:t>
            </a:r>
            <a:r>
              <a:rPr lang="en-GB" sz="3200" b="1" dirty="0" smtClean="0">
                <a:solidFill>
                  <a:schemeClr val="bg1"/>
                </a:solidFill>
                <a:latin typeface="Comic Sans MS" panose="030F0702030302020204" pitchFamily="66" charset="0"/>
              </a:rPr>
              <a:t>Encoding :Used </a:t>
            </a:r>
            <a:r>
              <a:rPr lang="en-GB" sz="3200" b="1" dirty="0">
                <a:solidFill>
                  <a:schemeClr val="bg1"/>
                </a:solidFill>
                <a:latin typeface="Comic Sans MS" panose="030F0702030302020204" pitchFamily="66" charset="0"/>
              </a:rPr>
              <a:t>for ordered or non-text categorical fields such as:</a:t>
            </a:r>
          </a:p>
          <a:p>
            <a:pPr algn="just">
              <a:lnSpc>
                <a:spcPct val="150000"/>
              </a:lnSpc>
            </a:pPr>
            <a:r>
              <a:rPr lang="en-GB" sz="3200" b="1" dirty="0" smtClean="0">
                <a:solidFill>
                  <a:schemeClr val="bg1"/>
                </a:solidFill>
                <a:latin typeface="Comic Sans MS" panose="030F0702030302020204" pitchFamily="66" charset="0"/>
              </a:rPr>
              <a:t>(</a:t>
            </a:r>
            <a:r>
              <a:rPr lang="en-GB" sz="3200" b="1" dirty="0" err="1" smtClean="0">
                <a:solidFill>
                  <a:schemeClr val="bg1"/>
                </a:solidFill>
                <a:latin typeface="Comic Sans MS" panose="030F0702030302020204" pitchFamily="66" charset="0"/>
              </a:rPr>
              <a:t>i</a:t>
            </a:r>
            <a:r>
              <a:rPr lang="en-GB" sz="3200" b="1" dirty="0" smtClean="0">
                <a:solidFill>
                  <a:schemeClr val="bg1"/>
                </a:solidFill>
                <a:latin typeface="Comic Sans MS" panose="030F0702030302020204" pitchFamily="66" charset="0"/>
              </a:rPr>
              <a:t>) Sex</a:t>
            </a:r>
            <a:endParaRPr lang="en-GB" sz="3200" b="1" dirty="0">
              <a:solidFill>
                <a:schemeClr val="bg1"/>
              </a:solidFill>
              <a:latin typeface="Comic Sans MS" panose="030F0702030302020204" pitchFamily="66" charset="0"/>
            </a:endParaRPr>
          </a:p>
          <a:p>
            <a:pPr algn="just">
              <a:lnSpc>
                <a:spcPct val="150000"/>
              </a:lnSpc>
            </a:pPr>
            <a:r>
              <a:rPr lang="en-GB" sz="3200" b="1" dirty="0" smtClean="0">
                <a:solidFill>
                  <a:schemeClr val="bg1"/>
                </a:solidFill>
                <a:latin typeface="Comic Sans MS" panose="030F0702030302020204" pitchFamily="66" charset="0"/>
              </a:rPr>
              <a:t>(ii) Chest </a:t>
            </a:r>
            <a:r>
              <a:rPr lang="en-GB" sz="3200" b="1" dirty="0">
                <a:solidFill>
                  <a:schemeClr val="bg1"/>
                </a:solidFill>
                <a:latin typeface="Comic Sans MS" panose="030F0702030302020204" pitchFamily="66" charset="0"/>
              </a:rPr>
              <a:t>Pain Type (</a:t>
            </a:r>
            <a:r>
              <a:rPr lang="en-GB" sz="3200" b="1" dirty="0" err="1">
                <a:solidFill>
                  <a:schemeClr val="bg1"/>
                </a:solidFill>
                <a:latin typeface="Comic Sans MS" panose="030F0702030302020204" pitchFamily="66" charset="0"/>
              </a:rPr>
              <a:t>cp</a:t>
            </a:r>
            <a:r>
              <a:rPr lang="en-GB" sz="3200" b="1" dirty="0">
                <a:solidFill>
                  <a:schemeClr val="bg1"/>
                </a:solidFill>
                <a:latin typeface="Comic Sans MS" panose="030F0702030302020204" pitchFamily="66" charset="0"/>
              </a:rPr>
              <a:t>)</a:t>
            </a:r>
          </a:p>
          <a:p>
            <a:pPr algn="just">
              <a:lnSpc>
                <a:spcPct val="150000"/>
              </a:lnSpc>
            </a:pPr>
            <a:r>
              <a:rPr lang="en-GB" sz="3200" b="1" dirty="0" smtClean="0">
                <a:solidFill>
                  <a:schemeClr val="bg1"/>
                </a:solidFill>
                <a:latin typeface="Comic Sans MS" panose="030F0702030302020204" pitchFamily="66" charset="0"/>
              </a:rPr>
              <a:t>(iii) Thalassemia </a:t>
            </a:r>
            <a:r>
              <a:rPr lang="en-GB" sz="3200" b="1" dirty="0">
                <a:solidFill>
                  <a:schemeClr val="bg1"/>
                </a:solidFill>
                <a:latin typeface="Comic Sans MS" panose="030F0702030302020204" pitchFamily="66" charset="0"/>
              </a:rPr>
              <a:t>(</a:t>
            </a:r>
            <a:r>
              <a:rPr lang="en-GB" sz="3200" b="1" dirty="0" err="1">
                <a:solidFill>
                  <a:schemeClr val="bg1"/>
                </a:solidFill>
                <a:latin typeface="Comic Sans MS" panose="030F0702030302020204" pitchFamily="66" charset="0"/>
              </a:rPr>
              <a:t>thal</a:t>
            </a:r>
            <a:r>
              <a:rPr lang="en-GB" sz="3200" b="1" dirty="0">
                <a:solidFill>
                  <a:schemeClr val="bg1"/>
                </a:solidFill>
                <a:latin typeface="Comic Sans MS" panose="030F0702030302020204" pitchFamily="66" charset="0"/>
              </a:rPr>
              <a:t>)</a:t>
            </a:r>
          </a:p>
        </p:txBody>
      </p:sp>
      <p:pic>
        <p:nvPicPr>
          <p:cNvPr id="2" name="Picture 1"/>
          <p:cNvPicPr>
            <a:picLocks noChangeAspect="1"/>
          </p:cNvPicPr>
          <p:nvPr/>
        </p:nvPicPr>
        <p:blipFill>
          <a:blip r:embed="rId4"/>
          <a:stretch>
            <a:fillRect/>
          </a:stretch>
        </p:blipFill>
        <p:spPr>
          <a:xfrm>
            <a:off x="707043" y="6087605"/>
            <a:ext cx="7910891" cy="1965833"/>
          </a:xfrm>
          <a:prstGeom prst="rect">
            <a:avLst/>
          </a:prstGeom>
          <a:ln w="19050">
            <a:solidFill>
              <a:srgbClr val="FF0000"/>
            </a:solidFill>
          </a:ln>
        </p:spPr>
      </p:pic>
      <p:pic>
        <p:nvPicPr>
          <p:cNvPr id="3" name="Picture 2"/>
          <p:cNvPicPr>
            <a:picLocks noChangeAspect="1"/>
          </p:cNvPicPr>
          <p:nvPr/>
        </p:nvPicPr>
        <p:blipFill>
          <a:blip r:embed="rId5"/>
          <a:stretch>
            <a:fillRect/>
          </a:stretch>
        </p:blipFill>
        <p:spPr>
          <a:xfrm>
            <a:off x="9427533" y="7547073"/>
            <a:ext cx="7848650" cy="1012729"/>
          </a:xfrm>
          <a:prstGeom prst="rect">
            <a:avLst/>
          </a:prstGeom>
          <a:ln>
            <a:solidFill>
              <a:srgbClr val="FF0000"/>
            </a:solidFill>
          </a:ln>
        </p:spPr>
      </p:pic>
      <p:sp>
        <p:nvSpPr>
          <p:cNvPr id="23" name="Google Shape;164;p17"/>
          <p:cNvSpPr/>
          <p:nvPr/>
        </p:nvSpPr>
        <p:spPr>
          <a:xfrm>
            <a:off x="9324976" y="2640343"/>
            <a:ext cx="8296274" cy="4647945"/>
          </a:xfrm>
          <a:prstGeom prst="rect">
            <a:avLst/>
          </a:prstGeom>
          <a:noFill/>
          <a:ln>
            <a:noFill/>
          </a:ln>
        </p:spPr>
        <p:txBody>
          <a:bodyPr spcFirstLastPara="1" wrap="square" lIns="91425" tIns="45700" rIns="91425" bIns="45700" anchor="ctr" anchorCtr="0">
            <a:noAutofit/>
          </a:bodyPr>
          <a:lstStyle/>
          <a:p>
            <a:pPr algn="just">
              <a:lnSpc>
                <a:spcPct val="150000"/>
              </a:lnSpc>
            </a:pPr>
            <a:r>
              <a:rPr lang="en-GB" sz="3200" b="1" dirty="0">
                <a:solidFill>
                  <a:schemeClr val="bg1"/>
                </a:solidFill>
                <a:latin typeface="Comic Sans MS" panose="030F0702030302020204" pitchFamily="66" charset="0"/>
              </a:rPr>
              <a:t>2. One-Hot </a:t>
            </a:r>
            <a:r>
              <a:rPr lang="en-GB" sz="3200" b="1" dirty="0" smtClean="0">
                <a:solidFill>
                  <a:schemeClr val="bg1"/>
                </a:solidFill>
                <a:latin typeface="Comic Sans MS" panose="030F0702030302020204" pitchFamily="66" charset="0"/>
              </a:rPr>
              <a:t>Encoding : </a:t>
            </a:r>
            <a:r>
              <a:rPr lang="en-GB" sz="3200" dirty="0" smtClean="0">
                <a:solidFill>
                  <a:schemeClr val="bg1"/>
                </a:solidFill>
                <a:latin typeface="Comic Sans MS" panose="030F0702030302020204" pitchFamily="66" charset="0"/>
              </a:rPr>
              <a:t>Used </a:t>
            </a:r>
            <a:r>
              <a:rPr lang="en-GB" sz="3200" dirty="0">
                <a:solidFill>
                  <a:schemeClr val="bg1"/>
                </a:solidFill>
                <a:latin typeface="Comic Sans MS" panose="030F0702030302020204" pitchFamily="66" charset="0"/>
              </a:rPr>
              <a:t>for non-ordinal categories where each category should become a separate column.</a:t>
            </a:r>
          </a:p>
          <a:p>
            <a:pPr algn="just">
              <a:lnSpc>
                <a:spcPct val="150000"/>
              </a:lnSpc>
            </a:pPr>
            <a:r>
              <a:rPr lang="en-GB" sz="3200" dirty="0" smtClean="0">
                <a:solidFill>
                  <a:schemeClr val="bg1"/>
                </a:solidFill>
                <a:latin typeface="Comic Sans MS" panose="030F0702030302020204" pitchFamily="66" charset="0"/>
              </a:rPr>
              <a:t>(</a:t>
            </a:r>
            <a:r>
              <a:rPr lang="en-GB" sz="3200" dirty="0" err="1" smtClean="0">
                <a:solidFill>
                  <a:schemeClr val="bg1"/>
                </a:solidFill>
                <a:latin typeface="Comic Sans MS" panose="030F0702030302020204" pitchFamily="66" charset="0"/>
              </a:rPr>
              <a:t>i</a:t>
            </a:r>
            <a:r>
              <a:rPr lang="en-GB" sz="3200" dirty="0" smtClean="0">
                <a:solidFill>
                  <a:schemeClr val="bg1"/>
                </a:solidFill>
                <a:latin typeface="Comic Sans MS" panose="030F0702030302020204" pitchFamily="66" charset="0"/>
              </a:rPr>
              <a:t>) Chest </a:t>
            </a:r>
            <a:r>
              <a:rPr lang="en-GB" sz="3200" dirty="0">
                <a:solidFill>
                  <a:schemeClr val="bg1"/>
                </a:solidFill>
                <a:latin typeface="Comic Sans MS" panose="030F0702030302020204" pitchFamily="66" charset="0"/>
              </a:rPr>
              <a:t>Pain Type </a:t>
            </a:r>
            <a:endParaRPr lang="en-GB" sz="3200" dirty="0" smtClean="0">
              <a:solidFill>
                <a:schemeClr val="bg1"/>
              </a:solidFill>
              <a:latin typeface="Comic Sans MS" panose="030F0702030302020204" pitchFamily="66" charset="0"/>
            </a:endParaRPr>
          </a:p>
          <a:p>
            <a:pPr algn="just">
              <a:lnSpc>
                <a:spcPct val="150000"/>
              </a:lnSpc>
            </a:pPr>
            <a:r>
              <a:rPr lang="en-GB" sz="3200" dirty="0" smtClean="0">
                <a:solidFill>
                  <a:schemeClr val="bg1"/>
                </a:solidFill>
                <a:latin typeface="Comic Sans MS" panose="030F0702030302020204" pitchFamily="66" charset="0"/>
              </a:rPr>
              <a:t>(ii) Thalassemia </a:t>
            </a:r>
            <a:r>
              <a:rPr lang="en-GB" sz="3200" dirty="0">
                <a:solidFill>
                  <a:schemeClr val="bg1"/>
                </a:solidFill>
                <a:latin typeface="Comic Sans MS" panose="030F0702030302020204" pitchFamily="66" charset="0"/>
              </a:rPr>
              <a:t>types</a:t>
            </a:r>
          </a:p>
          <a:p>
            <a:pPr algn="just">
              <a:lnSpc>
                <a:spcPct val="150000"/>
              </a:lnSpc>
            </a:pPr>
            <a:r>
              <a:rPr lang="en-GB" sz="3200" dirty="0" smtClean="0">
                <a:solidFill>
                  <a:schemeClr val="bg1"/>
                </a:solidFill>
                <a:latin typeface="Comic Sans MS" panose="030F0702030302020204" pitchFamily="66" charset="0"/>
              </a:rPr>
              <a:t>(iii) Slope </a:t>
            </a:r>
            <a:r>
              <a:rPr lang="en-GB" sz="3200" dirty="0">
                <a:solidFill>
                  <a:schemeClr val="bg1"/>
                </a:solidFill>
                <a:latin typeface="Comic Sans MS" panose="030F0702030302020204" pitchFamily="66" charset="0"/>
              </a:rPr>
              <a:t>of ST segment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3"/>
                                        </p:tgtEl>
                                        <p:attrNameLst>
                                          <p:attrName>style.visibility</p:attrName>
                                        </p:attrNameLst>
                                      </p:cBhvr>
                                      <p:to>
                                        <p:strVal val="visible"/>
                                      </p:to>
                                    </p:set>
                                    <p:anim calcmode="lin" valueType="num">
                                      <p:cBhvr additive="base">
                                        <p:cTn id="7" dur="500"/>
                                        <p:tgtEl>
                                          <p:spTgt spid="163"/>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64"/>
                                        </p:tgtEl>
                                        <p:attrNameLst>
                                          <p:attrName>style.visibility</p:attrName>
                                        </p:attrNameLst>
                                      </p:cBhvr>
                                      <p:to>
                                        <p:strVal val="visible"/>
                                      </p:to>
                                    </p:set>
                                    <p:anim calcmode="lin" valueType="num">
                                      <p:cBhvr additive="base">
                                        <p:cTn id="12" dur="500"/>
                                        <p:tgtEl>
                                          <p:spTgt spid="164"/>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 calcmode="lin" valueType="num">
                                      <p:cBhvr additive="base">
                                        <p:cTn id="17" dur="500"/>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pic>
        <p:nvPicPr>
          <p:cNvPr id="19" name="Picture 6" descr="abstrait numérique La technologie cerveau futuriste, ai artificiel  intelligence bleu arrière-plan, cyber science santé technologie, innovation  bavarder futur gros données, l'Internet réseau connexion, nuage  salut-technologie vecteur 33890724 Art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8288000" cy="10287000"/>
          </a:xfrm>
          <a:prstGeom prst="rect">
            <a:avLst/>
          </a:prstGeom>
          <a:noFill/>
          <a:extLst>
            <a:ext uri="{909E8E84-426E-40DD-AFC4-6F175D3DCCD1}">
              <a14:hiddenFill xmlns:a14="http://schemas.microsoft.com/office/drawing/2010/main">
                <a:solidFill>
                  <a:srgbClr val="FFFFFF"/>
                </a:solidFill>
              </a14:hiddenFill>
            </a:ext>
          </a:extLst>
        </p:spPr>
      </p:pic>
      <p:sp>
        <p:nvSpPr>
          <p:cNvPr id="181" name="Google Shape;181;p18"/>
          <p:cNvSpPr txBox="1"/>
          <p:nvPr/>
        </p:nvSpPr>
        <p:spPr>
          <a:xfrm>
            <a:off x="0" y="580971"/>
            <a:ext cx="18288000" cy="1218795"/>
          </a:xfrm>
          <a:prstGeom prst="rect">
            <a:avLst/>
          </a:prstGeom>
          <a:noFill/>
          <a:ln>
            <a:noFill/>
          </a:ln>
        </p:spPr>
        <p:txBody>
          <a:bodyPr spcFirstLastPara="1" wrap="square" lIns="0" tIns="0" rIns="0" bIns="0" anchor="t" anchorCtr="0">
            <a:spAutoFit/>
          </a:bodyPr>
          <a:lstStyle/>
          <a:p>
            <a:pPr marL="0" marR="0" lvl="0" indent="0" algn="ctr" rtl="0">
              <a:lnSpc>
                <a:spcPct val="90125"/>
              </a:lnSpc>
              <a:spcBef>
                <a:spcPts val="0"/>
              </a:spcBef>
              <a:spcAft>
                <a:spcPts val="0"/>
              </a:spcAft>
              <a:buNone/>
            </a:pPr>
            <a:r>
              <a:rPr lang="en-US" sz="8800" b="1" dirty="0" smtClean="0">
                <a:solidFill>
                  <a:schemeClr val="lt1"/>
                </a:solidFill>
                <a:latin typeface="Ink Free" panose="03080402000500000000" pitchFamily="66" charset="0"/>
                <a:ea typeface="Impact"/>
                <a:cs typeface="MV Boli" panose="02000500030200090000" pitchFamily="2" charset="0"/>
                <a:sym typeface="Impact"/>
              </a:rPr>
              <a:t>Classification Models</a:t>
            </a:r>
            <a:endParaRPr lang="en-US" sz="8800" b="1" dirty="0">
              <a:solidFill>
                <a:schemeClr val="lt1"/>
              </a:solidFill>
              <a:latin typeface="Ink Free" panose="03080402000500000000" pitchFamily="66" charset="0"/>
              <a:ea typeface="Impact"/>
              <a:cs typeface="MV Boli" panose="02000500030200090000" pitchFamily="2" charset="0"/>
              <a:sym typeface="Impact"/>
            </a:endParaRPr>
          </a:p>
        </p:txBody>
      </p:sp>
      <p:grpSp>
        <p:nvGrpSpPr>
          <p:cNvPr id="2" name="Group 1"/>
          <p:cNvGrpSpPr/>
          <p:nvPr/>
        </p:nvGrpSpPr>
        <p:grpSpPr>
          <a:xfrm>
            <a:off x="533401" y="2249448"/>
            <a:ext cx="10144123" cy="6894552"/>
            <a:chOff x="533401" y="2249448"/>
            <a:chExt cx="8381999" cy="6219170"/>
          </a:xfrm>
        </p:grpSpPr>
        <p:sp>
          <p:nvSpPr>
            <p:cNvPr id="182" name="Google Shape;182;p18"/>
            <p:cNvSpPr/>
            <p:nvPr/>
          </p:nvSpPr>
          <p:spPr>
            <a:xfrm>
              <a:off x="1076325" y="2249448"/>
              <a:ext cx="7296149" cy="707886"/>
            </a:xfrm>
            <a:prstGeom prst="rect">
              <a:avLst/>
            </a:prstGeom>
            <a:no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r>
                <a:rPr lang="en-US" sz="4000" b="1" dirty="0">
                  <a:solidFill>
                    <a:schemeClr val="lt1"/>
                  </a:solidFill>
                  <a:latin typeface="Comic Sans MS" panose="030F0702030302020204" pitchFamily="66" charset="0"/>
                  <a:ea typeface="Times New Roman"/>
                  <a:cs typeface="Times New Roman"/>
                  <a:sym typeface="Times New Roman"/>
                </a:rPr>
                <a:t>1. LOGISTIC REGRESSION </a:t>
              </a:r>
              <a:endParaRPr sz="4000" b="1" i="0" u="none" strike="noStrike" cap="none" dirty="0">
                <a:solidFill>
                  <a:schemeClr val="lt1"/>
                </a:solidFill>
                <a:latin typeface="Comic Sans MS" panose="030F0702030302020204" pitchFamily="66" charset="0"/>
                <a:ea typeface="Times New Roman"/>
                <a:cs typeface="Times New Roman"/>
                <a:sym typeface="Times New Roman"/>
              </a:endParaRPr>
            </a:p>
          </p:txBody>
        </p:sp>
        <p:sp>
          <p:nvSpPr>
            <p:cNvPr id="183" name="Google Shape;183;p18"/>
            <p:cNvSpPr/>
            <p:nvPr/>
          </p:nvSpPr>
          <p:spPr>
            <a:xfrm>
              <a:off x="533401" y="2911614"/>
              <a:ext cx="8381999" cy="2862322"/>
            </a:xfrm>
            <a:prstGeom prst="rect">
              <a:avLst/>
            </a:prstGeom>
            <a:no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endParaRPr sz="3600" b="0" i="0" u="none" strike="noStrike" cap="none" dirty="0">
                <a:solidFill>
                  <a:schemeClr val="lt1"/>
                </a:solidFill>
                <a:latin typeface="Times New Roman"/>
                <a:ea typeface="Times New Roman"/>
                <a:cs typeface="Times New Roman"/>
                <a:sym typeface="Times New Roman"/>
              </a:endParaRPr>
            </a:p>
          </p:txBody>
        </p:sp>
        <p:pic>
          <p:nvPicPr>
            <p:cNvPr id="184" name="Google Shape;184;p18"/>
            <p:cNvPicPr preferRelativeResize="0"/>
            <p:nvPr/>
          </p:nvPicPr>
          <p:blipFill rotWithShape="1">
            <a:blip r:embed="rId4">
              <a:alphaModFix/>
            </a:blip>
            <a:srcRect/>
            <a:stretch/>
          </p:blipFill>
          <p:spPr>
            <a:xfrm>
              <a:off x="1076324" y="5725418"/>
              <a:ext cx="7296149" cy="2743200"/>
            </a:xfrm>
            <a:prstGeom prst="rect">
              <a:avLst/>
            </a:prstGeom>
            <a:noFill/>
            <a:ln>
              <a:solidFill>
                <a:srgbClr val="FF0000"/>
              </a:solidFill>
            </a:ln>
          </p:spPr>
        </p:pic>
        <p:sp>
          <p:nvSpPr>
            <p:cNvPr id="23" name="Google Shape;182;p18"/>
            <p:cNvSpPr/>
            <p:nvPr/>
          </p:nvSpPr>
          <p:spPr>
            <a:xfrm>
              <a:off x="1847850" y="3257550"/>
              <a:ext cx="6524624" cy="1924050"/>
            </a:xfrm>
            <a:prstGeom prst="rect">
              <a:avLst/>
            </a:prstGeom>
            <a:noFill/>
            <a:ln>
              <a:noFill/>
            </a:ln>
          </p:spPr>
          <p:txBody>
            <a:bodyPr spcFirstLastPara="1" wrap="square" lIns="91425" tIns="45700" rIns="91425" bIns="45700" anchor="ctr" anchorCtr="0">
              <a:noAutofit/>
            </a:bodyPr>
            <a:lstStyle/>
            <a:p>
              <a:pPr lvl="0" algn="just"/>
              <a:r>
                <a:rPr lang="en-GB" sz="3600" b="1" dirty="0" smtClean="0">
                  <a:solidFill>
                    <a:schemeClr val="bg1"/>
                  </a:solidFill>
                  <a:latin typeface="Comic Sans MS" panose="030F0702030302020204" pitchFamily="66" charset="0"/>
                </a:rPr>
                <a:t>It is </a:t>
              </a:r>
              <a:r>
                <a:rPr lang="en-GB" sz="3600" dirty="0" smtClean="0">
                  <a:solidFill>
                    <a:schemeClr val="bg1"/>
                  </a:solidFill>
                  <a:latin typeface="Comic Sans MS" panose="030F0702030302020204" pitchFamily="66" charset="0"/>
                </a:rPr>
                <a:t>Simple </a:t>
              </a:r>
              <a:r>
                <a:rPr lang="en-GB" sz="3600" dirty="0">
                  <a:solidFill>
                    <a:schemeClr val="bg1"/>
                  </a:solidFill>
                  <a:latin typeface="Comic Sans MS" panose="030F0702030302020204" pitchFamily="66" charset="0"/>
                </a:rPr>
                <a:t>and interpretable model for linear relationships in medical data.</a:t>
              </a:r>
              <a:endParaRPr sz="3600" b="1" i="0" u="none" strike="noStrike" cap="none" dirty="0">
                <a:solidFill>
                  <a:schemeClr val="bg1"/>
                </a:solidFill>
                <a:latin typeface="Comic Sans MS" panose="030F0702030302020204" pitchFamily="66" charset="0"/>
                <a:ea typeface="Times New Roman"/>
                <a:cs typeface="Times New Roman"/>
                <a:sym typeface="Times New Roman"/>
              </a:endParaRPr>
            </a:p>
          </p:txBody>
        </p:sp>
      </p:grpSp>
      <p:pic>
        <p:nvPicPr>
          <p:cNvPr id="20" name="object 4"/>
          <p:cNvPicPr/>
          <p:nvPr/>
        </p:nvPicPr>
        <p:blipFill>
          <a:blip r:embed="rId5" cstate="print"/>
          <a:stretch>
            <a:fillRect/>
          </a:stretch>
        </p:blipFill>
        <p:spPr>
          <a:xfrm>
            <a:off x="11277600" y="2334210"/>
            <a:ext cx="5536358" cy="6732130"/>
          </a:xfrm>
          <a:prstGeom prst="rect">
            <a:avLst/>
          </a:prstGeom>
          <a:ln>
            <a:solidFill>
              <a:srgbClr val="FF0000"/>
            </a:solid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1"/>
                                        </p:tgtEl>
                                        <p:attrNameLst>
                                          <p:attrName>style.visibility</p:attrName>
                                        </p:attrNameLst>
                                      </p:cBhvr>
                                      <p:to>
                                        <p:strVal val="visible"/>
                                      </p:to>
                                    </p:set>
                                    <p:anim calcmode="lin" valueType="num">
                                      <p:cBhvr additive="base">
                                        <p:cTn id="7" dur="500"/>
                                        <p:tgtEl>
                                          <p:spTgt spid="18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pic>
        <p:nvPicPr>
          <p:cNvPr id="13" name="Picture 6" descr="abstrait numérique La technologie cerveau futuriste, ai artificiel  intelligence bleu arrière-plan, cyber science santé technologie, innovation  bavarder futur gros données, l'Internet réseau connexion, nuage  salut-technologie vecteur 33890724 Art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8288000" cy="10287000"/>
          </a:xfrm>
          <a:prstGeom prst="rect">
            <a:avLst/>
          </a:prstGeom>
          <a:noFill/>
          <a:extLst>
            <a:ext uri="{909E8E84-426E-40DD-AFC4-6F175D3DCCD1}">
              <a14:hiddenFill xmlns:a14="http://schemas.microsoft.com/office/drawing/2010/main">
                <a:solidFill>
                  <a:srgbClr val="FFFFFF"/>
                </a:solidFill>
              </a14:hiddenFill>
            </a:ext>
          </a:extLst>
        </p:spPr>
      </p:pic>
      <p:grpSp>
        <p:nvGrpSpPr>
          <p:cNvPr id="63" name="Group 62"/>
          <p:cNvGrpSpPr/>
          <p:nvPr/>
        </p:nvGrpSpPr>
        <p:grpSpPr>
          <a:xfrm>
            <a:off x="666751" y="1068348"/>
            <a:ext cx="8381999" cy="3524488"/>
            <a:chOff x="533401" y="2249448"/>
            <a:chExt cx="8381999" cy="3524488"/>
          </a:xfrm>
        </p:grpSpPr>
        <p:sp>
          <p:nvSpPr>
            <p:cNvPr id="64" name="Google Shape;182;p18"/>
            <p:cNvSpPr/>
            <p:nvPr/>
          </p:nvSpPr>
          <p:spPr>
            <a:xfrm>
              <a:off x="1076325" y="2249448"/>
              <a:ext cx="7296149" cy="707886"/>
            </a:xfrm>
            <a:prstGeom prst="rect">
              <a:avLst/>
            </a:prstGeom>
            <a:no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r>
                <a:rPr lang="en-US" sz="4000" b="1" dirty="0">
                  <a:solidFill>
                    <a:schemeClr val="lt1"/>
                  </a:solidFill>
                  <a:latin typeface="Comic Sans MS" panose="030F0702030302020204" pitchFamily="66" charset="0"/>
                  <a:ea typeface="Times New Roman"/>
                  <a:cs typeface="Times New Roman"/>
                  <a:sym typeface="Times New Roman"/>
                </a:rPr>
                <a:t>2</a:t>
              </a:r>
              <a:r>
                <a:rPr lang="en-US" sz="4000" b="1" dirty="0" smtClean="0">
                  <a:solidFill>
                    <a:schemeClr val="lt1"/>
                  </a:solidFill>
                  <a:latin typeface="Comic Sans MS" panose="030F0702030302020204" pitchFamily="66" charset="0"/>
                  <a:ea typeface="Times New Roman"/>
                  <a:cs typeface="Times New Roman"/>
                  <a:sym typeface="Times New Roman"/>
                </a:rPr>
                <a:t>. Support Vector Machine</a:t>
              </a:r>
              <a:endParaRPr sz="4000" b="1" i="0" u="none" strike="noStrike" cap="none" dirty="0">
                <a:solidFill>
                  <a:schemeClr val="lt1"/>
                </a:solidFill>
                <a:latin typeface="Comic Sans MS" panose="030F0702030302020204" pitchFamily="66" charset="0"/>
                <a:ea typeface="Times New Roman"/>
                <a:cs typeface="Times New Roman"/>
                <a:sym typeface="Times New Roman"/>
              </a:endParaRPr>
            </a:p>
          </p:txBody>
        </p:sp>
        <p:sp>
          <p:nvSpPr>
            <p:cNvPr id="65" name="Google Shape;183;p18"/>
            <p:cNvSpPr/>
            <p:nvPr/>
          </p:nvSpPr>
          <p:spPr>
            <a:xfrm>
              <a:off x="533401" y="2911614"/>
              <a:ext cx="8381999" cy="2862322"/>
            </a:xfrm>
            <a:prstGeom prst="rect">
              <a:avLst/>
            </a:prstGeom>
            <a:no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endParaRPr sz="3600" b="0" i="0" u="none" strike="noStrike" cap="none" dirty="0">
                <a:solidFill>
                  <a:schemeClr val="lt1"/>
                </a:solidFill>
                <a:latin typeface="Times New Roman"/>
                <a:ea typeface="Times New Roman"/>
                <a:cs typeface="Times New Roman"/>
                <a:sym typeface="Times New Roman"/>
              </a:endParaRPr>
            </a:p>
          </p:txBody>
        </p:sp>
        <p:sp>
          <p:nvSpPr>
            <p:cNvPr id="67" name="Google Shape;182;p18"/>
            <p:cNvSpPr/>
            <p:nvPr/>
          </p:nvSpPr>
          <p:spPr>
            <a:xfrm>
              <a:off x="1847850" y="3257550"/>
              <a:ext cx="6524624" cy="1924050"/>
            </a:xfrm>
            <a:prstGeom prst="rect">
              <a:avLst/>
            </a:prstGeom>
            <a:noFill/>
            <a:ln>
              <a:noFill/>
            </a:ln>
          </p:spPr>
          <p:txBody>
            <a:bodyPr spcFirstLastPara="1" wrap="square" lIns="91425" tIns="45700" rIns="91425" bIns="45700" anchor="ctr" anchorCtr="0">
              <a:noAutofit/>
            </a:bodyPr>
            <a:lstStyle/>
            <a:p>
              <a:pPr lvl="0" algn="just"/>
              <a:r>
                <a:rPr lang="en-GB" sz="3600" b="1" dirty="0">
                  <a:solidFill>
                    <a:schemeClr val="bg1"/>
                  </a:solidFill>
                  <a:latin typeface="Comic Sans MS" panose="030F0702030302020204" pitchFamily="66" charset="0"/>
                </a:rPr>
                <a:t>SVM:</a:t>
              </a:r>
              <a:r>
                <a:rPr lang="en-GB" sz="3600" dirty="0">
                  <a:solidFill>
                    <a:schemeClr val="bg1"/>
                  </a:solidFill>
                  <a:latin typeface="Comic Sans MS" panose="030F0702030302020204" pitchFamily="66" charset="0"/>
                </a:rPr>
                <a:t> Finds the best boundary; works well for complex patterns.</a:t>
              </a:r>
              <a:endParaRPr sz="3600" b="1" i="0" u="none" strike="noStrike" cap="none" dirty="0">
                <a:solidFill>
                  <a:schemeClr val="bg1"/>
                </a:solidFill>
                <a:latin typeface="Comic Sans MS" panose="030F0702030302020204" pitchFamily="66" charset="0"/>
                <a:ea typeface="Times New Roman"/>
                <a:cs typeface="Times New Roman"/>
                <a:sym typeface="Times New Roman"/>
              </a:endParaRPr>
            </a:p>
          </p:txBody>
        </p:sp>
      </p:grpSp>
      <p:grpSp>
        <p:nvGrpSpPr>
          <p:cNvPr id="68" name="Group 67"/>
          <p:cNvGrpSpPr/>
          <p:nvPr/>
        </p:nvGrpSpPr>
        <p:grpSpPr>
          <a:xfrm>
            <a:off x="9448801" y="1068348"/>
            <a:ext cx="8381999" cy="3524488"/>
            <a:chOff x="533401" y="2249448"/>
            <a:chExt cx="8381999" cy="3524488"/>
          </a:xfrm>
        </p:grpSpPr>
        <p:sp>
          <p:nvSpPr>
            <p:cNvPr id="69" name="Google Shape;182;p18"/>
            <p:cNvSpPr/>
            <p:nvPr/>
          </p:nvSpPr>
          <p:spPr>
            <a:xfrm>
              <a:off x="1076325" y="2249448"/>
              <a:ext cx="7296149" cy="707886"/>
            </a:xfrm>
            <a:prstGeom prst="rect">
              <a:avLst/>
            </a:prstGeom>
            <a:no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r>
                <a:rPr lang="en-US" sz="4000" b="1" dirty="0" smtClean="0">
                  <a:solidFill>
                    <a:schemeClr val="lt1"/>
                  </a:solidFill>
                  <a:latin typeface="Comic Sans MS" panose="030F0702030302020204" pitchFamily="66" charset="0"/>
                  <a:ea typeface="Times New Roman"/>
                  <a:cs typeface="Times New Roman"/>
                  <a:sym typeface="Times New Roman"/>
                </a:rPr>
                <a:t>3. Decision Tree</a:t>
              </a:r>
              <a:endParaRPr sz="4000" b="1" i="0" u="none" strike="noStrike" cap="none" dirty="0">
                <a:solidFill>
                  <a:schemeClr val="lt1"/>
                </a:solidFill>
                <a:latin typeface="Comic Sans MS" panose="030F0702030302020204" pitchFamily="66" charset="0"/>
                <a:ea typeface="Times New Roman"/>
                <a:cs typeface="Times New Roman"/>
                <a:sym typeface="Times New Roman"/>
              </a:endParaRPr>
            </a:p>
          </p:txBody>
        </p:sp>
        <p:sp>
          <p:nvSpPr>
            <p:cNvPr id="70" name="Google Shape;183;p18"/>
            <p:cNvSpPr/>
            <p:nvPr/>
          </p:nvSpPr>
          <p:spPr>
            <a:xfrm>
              <a:off x="533401" y="2911614"/>
              <a:ext cx="8381999" cy="2862322"/>
            </a:xfrm>
            <a:prstGeom prst="rect">
              <a:avLst/>
            </a:prstGeom>
            <a:no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endParaRPr sz="3600" b="0" i="0" u="none" strike="noStrike" cap="none" dirty="0">
                <a:solidFill>
                  <a:schemeClr val="lt1"/>
                </a:solidFill>
                <a:latin typeface="Times New Roman"/>
                <a:ea typeface="Times New Roman"/>
                <a:cs typeface="Times New Roman"/>
                <a:sym typeface="Times New Roman"/>
              </a:endParaRPr>
            </a:p>
          </p:txBody>
        </p:sp>
        <p:sp>
          <p:nvSpPr>
            <p:cNvPr id="72" name="Google Shape;182;p18"/>
            <p:cNvSpPr/>
            <p:nvPr/>
          </p:nvSpPr>
          <p:spPr>
            <a:xfrm>
              <a:off x="1847850" y="3257550"/>
              <a:ext cx="6524624" cy="1924050"/>
            </a:xfrm>
            <a:prstGeom prst="rect">
              <a:avLst/>
            </a:prstGeom>
            <a:noFill/>
            <a:ln>
              <a:noFill/>
            </a:ln>
          </p:spPr>
          <p:txBody>
            <a:bodyPr spcFirstLastPara="1" wrap="square" lIns="91425" tIns="45700" rIns="91425" bIns="45700" anchor="ctr" anchorCtr="0">
              <a:noAutofit/>
            </a:bodyPr>
            <a:lstStyle/>
            <a:p>
              <a:pPr lvl="0" algn="just"/>
              <a:r>
                <a:rPr lang="en-GB" sz="3600" b="1" dirty="0">
                  <a:solidFill>
                    <a:schemeClr val="bg1"/>
                  </a:solidFill>
                  <a:latin typeface="Comic Sans MS" panose="030F0702030302020204" pitchFamily="66" charset="0"/>
                </a:rPr>
                <a:t>Decision Tree:</a:t>
              </a:r>
              <a:r>
                <a:rPr lang="en-GB" sz="3600" dirty="0">
                  <a:solidFill>
                    <a:schemeClr val="bg1"/>
                  </a:solidFill>
                  <a:latin typeface="Comic Sans MS" panose="030F0702030302020204" pitchFamily="66" charset="0"/>
                </a:rPr>
                <a:t> Uses simple rules; performs extremely well on this dataset.</a:t>
              </a:r>
              <a:endParaRPr sz="3600" b="1" i="0" u="none" strike="noStrike" cap="none" dirty="0">
                <a:solidFill>
                  <a:schemeClr val="bg1"/>
                </a:solidFill>
                <a:latin typeface="Comic Sans MS" panose="030F0702030302020204" pitchFamily="66" charset="0"/>
                <a:ea typeface="Times New Roman"/>
                <a:cs typeface="Times New Roman"/>
                <a:sym typeface="Times New Roman"/>
              </a:endParaRPr>
            </a:p>
          </p:txBody>
        </p:sp>
      </p:grpSp>
      <p:pic>
        <p:nvPicPr>
          <p:cNvPr id="2" name="Picture 1"/>
          <p:cNvPicPr>
            <a:picLocks noChangeAspect="1"/>
          </p:cNvPicPr>
          <p:nvPr/>
        </p:nvPicPr>
        <p:blipFill>
          <a:blip r:embed="rId4"/>
          <a:stretch>
            <a:fillRect/>
          </a:stretch>
        </p:blipFill>
        <p:spPr>
          <a:xfrm>
            <a:off x="1209674" y="4544317"/>
            <a:ext cx="7477126" cy="4190476"/>
          </a:xfrm>
          <a:prstGeom prst="rect">
            <a:avLst/>
          </a:prstGeom>
          <a:ln>
            <a:solidFill>
              <a:srgbClr val="FF0000"/>
            </a:solidFill>
          </a:ln>
        </p:spPr>
      </p:pic>
      <p:pic>
        <p:nvPicPr>
          <p:cNvPr id="3" name="Picture 2"/>
          <p:cNvPicPr>
            <a:picLocks noChangeAspect="1"/>
          </p:cNvPicPr>
          <p:nvPr/>
        </p:nvPicPr>
        <p:blipFill>
          <a:blip r:embed="rId5"/>
          <a:stretch>
            <a:fillRect/>
          </a:stretch>
        </p:blipFill>
        <p:spPr>
          <a:xfrm>
            <a:off x="10067424" y="4544317"/>
            <a:ext cx="7385715" cy="3170933"/>
          </a:xfrm>
          <a:prstGeom prst="rect">
            <a:avLst/>
          </a:prstGeom>
          <a:ln>
            <a:solidFill>
              <a:srgbClr val="FF0000"/>
            </a:solidFill>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6" descr="abstrait numérique La technologie cerveau futuriste, ai artificiel  intelligence bleu arrière-plan, cyber science santé technologie, innovation  bavarder futur gros données, l'Internet réseau connexion, nuage  salut-technologie vecteur 33890724 Art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8288000" cy="10287000"/>
          </a:xfrm>
          <a:prstGeom prst="rect">
            <a:avLst/>
          </a:prstGeom>
          <a:noFill/>
          <a:extLst>
            <a:ext uri="{909E8E84-426E-40DD-AFC4-6F175D3DCCD1}">
              <a14:hiddenFill xmlns:a14="http://schemas.microsoft.com/office/drawing/2010/main">
                <a:solidFill>
                  <a:srgbClr val="FFFFFF"/>
                </a:solidFill>
              </a14:hiddenFill>
            </a:ext>
          </a:extLst>
        </p:spPr>
      </p:pic>
      <p:grpSp>
        <p:nvGrpSpPr>
          <p:cNvPr id="5" name="Group 4"/>
          <p:cNvGrpSpPr/>
          <p:nvPr/>
        </p:nvGrpSpPr>
        <p:grpSpPr>
          <a:xfrm>
            <a:off x="666751" y="1068348"/>
            <a:ext cx="8381999" cy="3524488"/>
            <a:chOff x="533401" y="2249448"/>
            <a:chExt cx="8381999" cy="3524488"/>
          </a:xfrm>
        </p:grpSpPr>
        <p:sp>
          <p:nvSpPr>
            <p:cNvPr id="6" name="Google Shape;182;p18"/>
            <p:cNvSpPr/>
            <p:nvPr/>
          </p:nvSpPr>
          <p:spPr>
            <a:xfrm>
              <a:off x="1076325" y="2249448"/>
              <a:ext cx="7296149" cy="707886"/>
            </a:xfrm>
            <a:prstGeom prst="rect">
              <a:avLst/>
            </a:prstGeom>
            <a:no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r>
                <a:rPr lang="en-US" sz="4000" b="1" dirty="0" smtClean="0">
                  <a:solidFill>
                    <a:schemeClr val="lt1"/>
                  </a:solidFill>
                  <a:latin typeface="Comic Sans MS" panose="030F0702030302020204" pitchFamily="66" charset="0"/>
                  <a:ea typeface="Times New Roman"/>
                  <a:cs typeface="Times New Roman"/>
                  <a:sym typeface="Times New Roman"/>
                </a:rPr>
                <a:t>4. Random Forest</a:t>
              </a:r>
              <a:endParaRPr sz="4000" b="1" i="0" u="none" strike="noStrike" cap="none" dirty="0">
                <a:solidFill>
                  <a:schemeClr val="lt1"/>
                </a:solidFill>
                <a:latin typeface="Comic Sans MS" panose="030F0702030302020204" pitchFamily="66" charset="0"/>
                <a:ea typeface="Times New Roman"/>
                <a:cs typeface="Times New Roman"/>
                <a:sym typeface="Times New Roman"/>
              </a:endParaRPr>
            </a:p>
          </p:txBody>
        </p:sp>
        <p:sp>
          <p:nvSpPr>
            <p:cNvPr id="7" name="Google Shape;183;p18"/>
            <p:cNvSpPr/>
            <p:nvPr/>
          </p:nvSpPr>
          <p:spPr>
            <a:xfrm>
              <a:off x="533401" y="2911614"/>
              <a:ext cx="8381999" cy="2862322"/>
            </a:xfrm>
            <a:prstGeom prst="rect">
              <a:avLst/>
            </a:prstGeom>
            <a:no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endParaRPr sz="3600" b="0" i="0" u="none" strike="noStrike" cap="none" dirty="0">
                <a:solidFill>
                  <a:schemeClr val="lt1"/>
                </a:solidFill>
                <a:latin typeface="Times New Roman"/>
                <a:ea typeface="Times New Roman"/>
                <a:cs typeface="Times New Roman"/>
                <a:sym typeface="Times New Roman"/>
              </a:endParaRPr>
            </a:p>
          </p:txBody>
        </p:sp>
        <p:sp>
          <p:nvSpPr>
            <p:cNvPr id="8" name="Google Shape;182;p18"/>
            <p:cNvSpPr/>
            <p:nvPr/>
          </p:nvSpPr>
          <p:spPr>
            <a:xfrm>
              <a:off x="1847850" y="3257550"/>
              <a:ext cx="6524624" cy="1924050"/>
            </a:xfrm>
            <a:prstGeom prst="rect">
              <a:avLst/>
            </a:prstGeom>
            <a:noFill/>
            <a:ln>
              <a:noFill/>
            </a:ln>
          </p:spPr>
          <p:txBody>
            <a:bodyPr spcFirstLastPara="1" wrap="square" lIns="91425" tIns="45700" rIns="91425" bIns="45700" anchor="ctr" anchorCtr="0">
              <a:noAutofit/>
            </a:bodyPr>
            <a:lstStyle/>
            <a:p>
              <a:pPr lvl="0" algn="just"/>
              <a:r>
                <a:rPr lang="en-GB" sz="3600" b="1" dirty="0">
                  <a:solidFill>
                    <a:schemeClr val="bg1"/>
                  </a:solidFill>
                  <a:latin typeface="Comic Sans MS" panose="030F0702030302020204" pitchFamily="66" charset="0"/>
                </a:rPr>
                <a:t>Random Forest:</a:t>
              </a:r>
              <a:r>
                <a:rPr lang="en-GB" sz="3600" dirty="0">
                  <a:solidFill>
                    <a:schemeClr val="bg1"/>
                  </a:solidFill>
                  <a:latin typeface="Comic Sans MS" panose="030F0702030302020204" pitchFamily="66" charset="0"/>
                </a:rPr>
                <a:t> Many trees combined; strong and stable accuracy.</a:t>
              </a:r>
              <a:endParaRPr sz="3600" b="1" i="0" u="none" strike="noStrike" cap="none" dirty="0">
                <a:solidFill>
                  <a:schemeClr val="bg1"/>
                </a:solidFill>
                <a:latin typeface="Comic Sans MS" panose="030F0702030302020204" pitchFamily="66" charset="0"/>
                <a:ea typeface="Times New Roman"/>
                <a:cs typeface="Times New Roman"/>
                <a:sym typeface="Times New Roman"/>
              </a:endParaRPr>
            </a:p>
          </p:txBody>
        </p:sp>
      </p:grpSp>
      <p:grpSp>
        <p:nvGrpSpPr>
          <p:cNvPr id="9" name="Group 8"/>
          <p:cNvGrpSpPr/>
          <p:nvPr/>
        </p:nvGrpSpPr>
        <p:grpSpPr>
          <a:xfrm>
            <a:off x="9448801" y="1068348"/>
            <a:ext cx="8381999" cy="3524488"/>
            <a:chOff x="533401" y="2249448"/>
            <a:chExt cx="8381999" cy="3524488"/>
          </a:xfrm>
        </p:grpSpPr>
        <p:sp>
          <p:nvSpPr>
            <p:cNvPr id="10" name="Google Shape;182;p18"/>
            <p:cNvSpPr/>
            <p:nvPr/>
          </p:nvSpPr>
          <p:spPr>
            <a:xfrm>
              <a:off x="1076325" y="2249448"/>
              <a:ext cx="7296149" cy="707886"/>
            </a:xfrm>
            <a:prstGeom prst="rect">
              <a:avLst/>
            </a:prstGeom>
            <a:no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r>
                <a:rPr lang="en-US" sz="4000" b="1" dirty="0" smtClean="0">
                  <a:solidFill>
                    <a:schemeClr val="lt1"/>
                  </a:solidFill>
                  <a:latin typeface="Comic Sans MS" panose="030F0702030302020204" pitchFamily="66" charset="0"/>
                  <a:ea typeface="Times New Roman"/>
                  <a:cs typeface="Times New Roman"/>
                  <a:sym typeface="Times New Roman"/>
                </a:rPr>
                <a:t>5. Gradient Boosting</a:t>
              </a:r>
              <a:endParaRPr sz="4000" b="1" i="0" u="none" strike="noStrike" cap="none" dirty="0">
                <a:solidFill>
                  <a:schemeClr val="lt1"/>
                </a:solidFill>
                <a:latin typeface="Comic Sans MS" panose="030F0702030302020204" pitchFamily="66" charset="0"/>
                <a:ea typeface="Times New Roman"/>
                <a:cs typeface="Times New Roman"/>
                <a:sym typeface="Times New Roman"/>
              </a:endParaRPr>
            </a:p>
          </p:txBody>
        </p:sp>
        <p:sp>
          <p:nvSpPr>
            <p:cNvPr id="11" name="Google Shape;183;p18"/>
            <p:cNvSpPr/>
            <p:nvPr/>
          </p:nvSpPr>
          <p:spPr>
            <a:xfrm>
              <a:off x="533401" y="2911614"/>
              <a:ext cx="8381999" cy="2862322"/>
            </a:xfrm>
            <a:prstGeom prst="rect">
              <a:avLst/>
            </a:prstGeom>
            <a:no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endParaRPr sz="3600" b="0" i="0" u="none" strike="noStrike" cap="none" dirty="0">
                <a:solidFill>
                  <a:schemeClr val="lt1"/>
                </a:solidFill>
                <a:latin typeface="Times New Roman"/>
                <a:ea typeface="Times New Roman"/>
                <a:cs typeface="Times New Roman"/>
                <a:sym typeface="Times New Roman"/>
              </a:endParaRPr>
            </a:p>
          </p:txBody>
        </p:sp>
        <p:sp>
          <p:nvSpPr>
            <p:cNvPr id="12" name="Google Shape;182;p18"/>
            <p:cNvSpPr/>
            <p:nvPr/>
          </p:nvSpPr>
          <p:spPr>
            <a:xfrm>
              <a:off x="1847850" y="3257550"/>
              <a:ext cx="6524624" cy="1924050"/>
            </a:xfrm>
            <a:prstGeom prst="rect">
              <a:avLst/>
            </a:prstGeom>
            <a:noFill/>
            <a:ln>
              <a:noFill/>
            </a:ln>
          </p:spPr>
          <p:txBody>
            <a:bodyPr spcFirstLastPara="1" wrap="square" lIns="91425" tIns="45700" rIns="91425" bIns="45700" anchor="ctr" anchorCtr="0">
              <a:noAutofit/>
            </a:bodyPr>
            <a:lstStyle/>
            <a:p>
              <a:pPr lvl="0"/>
              <a:r>
                <a:rPr lang="en-GB" sz="3600" b="1" dirty="0">
                  <a:solidFill>
                    <a:schemeClr val="bg1"/>
                  </a:solidFill>
                  <a:latin typeface="Comic Sans MS" panose="030F0702030302020204" pitchFamily="66" charset="0"/>
                </a:rPr>
                <a:t>Gradient Boosting:</a:t>
              </a:r>
              <a:r>
                <a:rPr lang="en-GB" sz="3600" dirty="0">
                  <a:solidFill>
                    <a:schemeClr val="bg1"/>
                  </a:solidFill>
                  <a:latin typeface="Comic Sans MS" panose="030F0702030302020204" pitchFamily="66" charset="0"/>
                </a:rPr>
                <a:t> Sequentially improved trees; top-performing model.</a:t>
              </a:r>
              <a:endParaRPr sz="3600" b="1" i="0" u="none" strike="noStrike" cap="none" dirty="0">
                <a:solidFill>
                  <a:schemeClr val="bg1"/>
                </a:solidFill>
                <a:latin typeface="Comic Sans MS" panose="030F0702030302020204" pitchFamily="66" charset="0"/>
                <a:ea typeface="Times New Roman"/>
                <a:cs typeface="Times New Roman"/>
                <a:sym typeface="Times New Roman"/>
              </a:endParaRPr>
            </a:p>
          </p:txBody>
        </p:sp>
      </p:grpSp>
      <p:pic>
        <p:nvPicPr>
          <p:cNvPr id="15" name="Picture 14"/>
          <p:cNvPicPr>
            <a:picLocks noChangeAspect="1"/>
          </p:cNvPicPr>
          <p:nvPr/>
        </p:nvPicPr>
        <p:blipFill>
          <a:blip r:embed="rId3"/>
          <a:stretch>
            <a:fillRect/>
          </a:stretch>
        </p:blipFill>
        <p:spPr>
          <a:xfrm>
            <a:off x="1285874" y="4507184"/>
            <a:ext cx="7392319" cy="2998516"/>
          </a:xfrm>
          <a:prstGeom prst="rect">
            <a:avLst/>
          </a:prstGeom>
          <a:ln>
            <a:solidFill>
              <a:srgbClr val="FF0000"/>
            </a:solidFill>
          </a:ln>
        </p:spPr>
      </p:pic>
      <p:pic>
        <p:nvPicPr>
          <p:cNvPr id="16" name="Picture 15"/>
          <p:cNvPicPr>
            <a:picLocks noChangeAspect="1"/>
          </p:cNvPicPr>
          <p:nvPr/>
        </p:nvPicPr>
        <p:blipFill>
          <a:blip r:embed="rId4"/>
          <a:stretch>
            <a:fillRect/>
          </a:stretch>
        </p:blipFill>
        <p:spPr>
          <a:xfrm>
            <a:off x="10059318" y="4400446"/>
            <a:ext cx="7314026" cy="2629004"/>
          </a:xfrm>
          <a:prstGeom prst="rect">
            <a:avLst/>
          </a:prstGeom>
          <a:ln>
            <a:solidFill>
              <a:srgbClr val="FF0000"/>
            </a:solidFill>
          </a:ln>
        </p:spPr>
      </p:pic>
    </p:spTree>
    <p:extLst>
      <p:ext uri="{BB962C8B-B14F-4D97-AF65-F5344CB8AC3E}">
        <p14:creationId xmlns:p14="http://schemas.microsoft.com/office/powerpoint/2010/main" val="925171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pic>
        <p:nvPicPr>
          <p:cNvPr id="10" name="Picture 6" descr="abstrait numérique La technologie cerveau futuriste, ai artificiel  intelligence bleu arrière-plan, cyber science santé technologie, innovation  bavarder futur gros données, l'Internet réseau connexion, nuage  salut-technologie vecteur 33890724 Art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8288000" cy="10287000"/>
          </a:xfrm>
          <a:prstGeom prst="rect">
            <a:avLst/>
          </a:prstGeom>
          <a:noFill/>
          <a:extLst>
            <a:ext uri="{909E8E84-426E-40DD-AFC4-6F175D3DCCD1}">
              <a14:hiddenFill xmlns:a14="http://schemas.microsoft.com/office/drawing/2010/main">
                <a:solidFill>
                  <a:srgbClr val="FFFFFF"/>
                </a:solidFill>
              </a14:hiddenFill>
            </a:ext>
          </a:extLst>
        </p:spPr>
      </p:pic>
      <p:grpSp>
        <p:nvGrpSpPr>
          <p:cNvPr id="29" name="Group 28"/>
          <p:cNvGrpSpPr/>
          <p:nvPr/>
        </p:nvGrpSpPr>
        <p:grpSpPr>
          <a:xfrm>
            <a:off x="666751" y="1068348"/>
            <a:ext cx="8381999" cy="3524488"/>
            <a:chOff x="533401" y="2249448"/>
            <a:chExt cx="8381999" cy="3524488"/>
          </a:xfrm>
        </p:grpSpPr>
        <p:sp>
          <p:nvSpPr>
            <p:cNvPr id="30" name="Google Shape;182;p18"/>
            <p:cNvSpPr/>
            <p:nvPr/>
          </p:nvSpPr>
          <p:spPr>
            <a:xfrm>
              <a:off x="1076325" y="2249448"/>
              <a:ext cx="7296149" cy="707886"/>
            </a:xfrm>
            <a:prstGeom prst="rect">
              <a:avLst/>
            </a:prstGeom>
            <a:no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r>
                <a:rPr lang="en-US" sz="4000" b="1" dirty="0" smtClean="0">
                  <a:solidFill>
                    <a:schemeClr val="lt1"/>
                  </a:solidFill>
                  <a:latin typeface="Comic Sans MS" panose="030F0702030302020204" pitchFamily="66" charset="0"/>
                  <a:ea typeface="Times New Roman"/>
                  <a:cs typeface="Times New Roman"/>
                  <a:sym typeface="Times New Roman"/>
                </a:rPr>
                <a:t>6. Naïve Bayes </a:t>
              </a:r>
              <a:endParaRPr sz="4000" b="1" i="0" u="none" strike="noStrike" cap="none" dirty="0">
                <a:solidFill>
                  <a:schemeClr val="lt1"/>
                </a:solidFill>
                <a:latin typeface="Comic Sans MS" panose="030F0702030302020204" pitchFamily="66" charset="0"/>
                <a:ea typeface="Times New Roman"/>
                <a:cs typeface="Times New Roman"/>
                <a:sym typeface="Times New Roman"/>
              </a:endParaRPr>
            </a:p>
          </p:txBody>
        </p:sp>
        <p:sp>
          <p:nvSpPr>
            <p:cNvPr id="31" name="Google Shape;183;p18"/>
            <p:cNvSpPr/>
            <p:nvPr/>
          </p:nvSpPr>
          <p:spPr>
            <a:xfrm>
              <a:off x="533401" y="2911614"/>
              <a:ext cx="8381999" cy="2862322"/>
            </a:xfrm>
            <a:prstGeom prst="rect">
              <a:avLst/>
            </a:prstGeom>
            <a:no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endParaRPr sz="3600" b="0" i="0" u="none" strike="noStrike" cap="none" dirty="0">
                <a:solidFill>
                  <a:schemeClr val="lt1"/>
                </a:solidFill>
                <a:latin typeface="Times New Roman"/>
                <a:ea typeface="Times New Roman"/>
                <a:cs typeface="Times New Roman"/>
                <a:sym typeface="Times New Roman"/>
              </a:endParaRPr>
            </a:p>
          </p:txBody>
        </p:sp>
        <p:sp>
          <p:nvSpPr>
            <p:cNvPr id="32" name="Google Shape;182;p18"/>
            <p:cNvSpPr/>
            <p:nvPr/>
          </p:nvSpPr>
          <p:spPr>
            <a:xfrm>
              <a:off x="1847850" y="3257550"/>
              <a:ext cx="6524624" cy="1924050"/>
            </a:xfrm>
            <a:prstGeom prst="rect">
              <a:avLst/>
            </a:prstGeom>
            <a:noFill/>
            <a:ln>
              <a:noFill/>
            </a:ln>
          </p:spPr>
          <p:txBody>
            <a:bodyPr spcFirstLastPara="1" wrap="square" lIns="91425" tIns="45700" rIns="91425" bIns="45700" anchor="ctr" anchorCtr="0">
              <a:noAutofit/>
            </a:bodyPr>
            <a:lstStyle/>
            <a:p>
              <a:pPr lvl="0"/>
              <a:r>
                <a:rPr lang="en-GB" sz="3600" b="1" dirty="0">
                  <a:solidFill>
                    <a:schemeClr val="bg1"/>
                  </a:solidFill>
                  <a:latin typeface="Comic Sans MS" panose="030F0702030302020204" pitchFamily="66" charset="0"/>
                </a:rPr>
                <a:t>Naive Bayes:</a:t>
              </a:r>
              <a:r>
                <a:rPr lang="en-GB" sz="3600" dirty="0">
                  <a:solidFill>
                    <a:schemeClr val="bg1"/>
                  </a:solidFill>
                  <a:latin typeface="Comic Sans MS" panose="030F0702030302020204" pitchFamily="66" charset="0"/>
                </a:rPr>
                <a:t> Fast probabilistic model; performs surprisingly well.</a:t>
              </a:r>
              <a:endParaRPr sz="3600" b="1" i="0" u="none" strike="noStrike" cap="none" dirty="0">
                <a:solidFill>
                  <a:schemeClr val="bg1"/>
                </a:solidFill>
                <a:latin typeface="Comic Sans MS" panose="030F0702030302020204" pitchFamily="66" charset="0"/>
                <a:ea typeface="Times New Roman"/>
                <a:cs typeface="Times New Roman"/>
                <a:sym typeface="Times New Roman"/>
              </a:endParaRPr>
            </a:p>
          </p:txBody>
        </p:sp>
      </p:grpSp>
      <p:pic>
        <p:nvPicPr>
          <p:cNvPr id="2" name="Picture 1"/>
          <p:cNvPicPr>
            <a:picLocks noChangeAspect="1"/>
          </p:cNvPicPr>
          <p:nvPr/>
        </p:nvPicPr>
        <p:blipFill>
          <a:blip r:embed="rId4"/>
          <a:stretch>
            <a:fillRect/>
          </a:stretch>
        </p:blipFill>
        <p:spPr>
          <a:xfrm>
            <a:off x="1209674" y="4252809"/>
            <a:ext cx="8076748" cy="3748191"/>
          </a:xfrm>
          <a:prstGeom prst="rect">
            <a:avLst/>
          </a:prstGeom>
          <a:ln>
            <a:solidFill>
              <a:srgbClr val="FF0000"/>
            </a:solidFill>
          </a:ln>
        </p:spPr>
      </p:pic>
      <p:grpSp>
        <p:nvGrpSpPr>
          <p:cNvPr id="11" name="Group 10"/>
          <p:cNvGrpSpPr/>
          <p:nvPr/>
        </p:nvGrpSpPr>
        <p:grpSpPr>
          <a:xfrm>
            <a:off x="9477375" y="1195715"/>
            <a:ext cx="8381999" cy="6219170"/>
            <a:chOff x="9315451" y="2249448"/>
            <a:chExt cx="8381999" cy="6219170"/>
          </a:xfrm>
        </p:grpSpPr>
        <p:grpSp>
          <p:nvGrpSpPr>
            <p:cNvPr id="12" name="Group 11"/>
            <p:cNvGrpSpPr/>
            <p:nvPr/>
          </p:nvGrpSpPr>
          <p:grpSpPr>
            <a:xfrm>
              <a:off x="9315451" y="2249448"/>
              <a:ext cx="8381999" cy="3524488"/>
              <a:chOff x="533401" y="2249448"/>
              <a:chExt cx="8381999" cy="3524488"/>
            </a:xfrm>
          </p:grpSpPr>
          <p:sp>
            <p:nvSpPr>
              <p:cNvPr id="14" name="Google Shape;182;p18"/>
              <p:cNvSpPr/>
              <p:nvPr/>
            </p:nvSpPr>
            <p:spPr>
              <a:xfrm>
                <a:off x="1076325" y="2249448"/>
                <a:ext cx="7296149" cy="707886"/>
              </a:xfrm>
              <a:prstGeom prst="rect">
                <a:avLst/>
              </a:prstGeom>
              <a:no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r>
                  <a:rPr lang="en-US" sz="4000" b="1" dirty="0" smtClean="0">
                    <a:solidFill>
                      <a:schemeClr val="lt1"/>
                    </a:solidFill>
                    <a:latin typeface="Comic Sans MS" panose="030F0702030302020204" pitchFamily="66" charset="0"/>
                    <a:ea typeface="Times New Roman"/>
                    <a:cs typeface="Times New Roman"/>
                    <a:sym typeface="Times New Roman"/>
                  </a:rPr>
                  <a:t>7. K-Nearest </a:t>
                </a:r>
                <a:r>
                  <a:rPr lang="en-US" sz="4000" b="1" dirty="0" err="1" smtClean="0">
                    <a:solidFill>
                      <a:schemeClr val="lt1"/>
                    </a:solidFill>
                    <a:latin typeface="Comic Sans MS" panose="030F0702030302020204" pitchFamily="66" charset="0"/>
                    <a:ea typeface="Times New Roman"/>
                    <a:cs typeface="Times New Roman"/>
                    <a:sym typeface="Times New Roman"/>
                  </a:rPr>
                  <a:t>Neighbour</a:t>
                </a:r>
                <a:endParaRPr sz="4000" b="1" i="0" u="none" strike="noStrike" cap="none" dirty="0">
                  <a:solidFill>
                    <a:schemeClr val="lt1"/>
                  </a:solidFill>
                  <a:latin typeface="Comic Sans MS" panose="030F0702030302020204" pitchFamily="66" charset="0"/>
                  <a:ea typeface="Times New Roman"/>
                  <a:cs typeface="Times New Roman"/>
                  <a:sym typeface="Times New Roman"/>
                </a:endParaRPr>
              </a:p>
            </p:txBody>
          </p:sp>
          <p:sp>
            <p:nvSpPr>
              <p:cNvPr id="15" name="Google Shape;183;p18"/>
              <p:cNvSpPr/>
              <p:nvPr/>
            </p:nvSpPr>
            <p:spPr>
              <a:xfrm>
                <a:off x="533401" y="2911614"/>
                <a:ext cx="8381999" cy="2862322"/>
              </a:xfrm>
              <a:prstGeom prst="rect">
                <a:avLst/>
              </a:prstGeom>
              <a:no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endParaRPr sz="3600" b="0" i="0" u="none" strike="noStrike" cap="none" dirty="0">
                  <a:solidFill>
                    <a:schemeClr val="lt1"/>
                  </a:solidFill>
                  <a:latin typeface="Times New Roman"/>
                  <a:ea typeface="Times New Roman"/>
                  <a:cs typeface="Times New Roman"/>
                  <a:sym typeface="Times New Roman"/>
                </a:endParaRPr>
              </a:p>
            </p:txBody>
          </p:sp>
          <p:sp>
            <p:nvSpPr>
              <p:cNvPr id="16" name="Google Shape;182;p18"/>
              <p:cNvSpPr/>
              <p:nvPr/>
            </p:nvSpPr>
            <p:spPr>
              <a:xfrm>
                <a:off x="1847850" y="3257550"/>
                <a:ext cx="6524624" cy="1924050"/>
              </a:xfrm>
              <a:prstGeom prst="rect">
                <a:avLst/>
              </a:prstGeom>
              <a:noFill/>
              <a:ln>
                <a:noFill/>
              </a:ln>
            </p:spPr>
            <p:txBody>
              <a:bodyPr spcFirstLastPara="1" wrap="square" lIns="91425" tIns="45700" rIns="91425" bIns="45700" anchor="ctr" anchorCtr="0">
                <a:noAutofit/>
              </a:bodyPr>
              <a:lstStyle/>
              <a:p>
                <a:pPr lvl="0" algn="just"/>
                <a:r>
                  <a:rPr lang="en-GB" sz="3600" b="1" dirty="0">
                    <a:solidFill>
                      <a:schemeClr val="bg1"/>
                    </a:solidFill>
                    <a:latin typeface="Comic Sans MS" panose="030F0702030302020204" pitchFamily="66" charset="0"/>
                  </a:rPr>
                  <a:t>KNN:</a:t>
                </a:r>
                <a:r>
                  <a:rPr lang="en-GB" sz="3600" dirty="0">
                    <a:solidFill>
                      <a:schemeClr val="bg1"/>
                    </a:solidFill>
                    <a:latin typeface="Comic Sans MS" panose="030F0702030302020204" pitchFamily="66" charset="0"/>
                  </a:rPr>
                  <a:t> Classifies based on nearest patients; sensitive to noise.</a:t>
                </a:r>
                <a:endParaRPr sz="3600" b="1" i="0" u="none" strike="noStrike" cap="none" dirty="0">
                  <a:solidFill>
                    <a:schemeClr val="bg1"/>
                  </a:solidFill>
                  <a:latin typeface="Comic Sans MS" panose="030F0702030302020204" pitchFamily="66" charset="0"/>
                  <a:ea typeface="Times New Roman"/>
                  <a:cs typeface="Times New Roman"/>
                  <a:sym typeface="Times New Roman"/>
                </a:endParaRPr>
              </a:p>
            </p:txBody>
          </p:sp>
        </p:grpSp>
        <p:pic>
          <p:nvPicPr>
            <p:cNvPr id="13" name="Picture 12"/>
            <p:cNvPicPr>
              <a:picLocks noChangeAspect="1"/>
            </p:cNvPicPr>
            <p:nvPr/>
          </p:nvPicPr>
          <p:blipFill>
            <a:blip r:embed="rId5"/>
            <a:stretch>
              <a:fillRect/>
            </a:stretch>
          </p:blipFill>
          <p:spPr>
            <a:xfrm>
              <a:off x="9934574" y="5706368"/>
              <a:ext cx="7419976" cy="2762250"/>
            </a:xfrm>
            <a:prstGeom prst="rect">
              <a:avLst/>
            </a:prstGeom>
            <a:ln>
              <a:solidFill>
                <a:srgbClr val="FF0000"/>
              </a:solidFill>
            </a:ln>
          </p:spPr>
        </p:pic>
      </p:gr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pic>
        <p:nvPicPr>
          <p:cNvPr id="9" name="Picture 6" descr="abstrait numérique La technologie cerveau futuriste, ai artificiel  intelligence bleu arrière-plan, cyber science santé technologie, innovation  bavarder futur gros données, l'Internet réseau connexion, nuage  salut-technologie vecteur 33890724 Art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8288000" cy="10287000"/>
          </a:xfrm>
          <a:prstGeom prst="rect">
            <a:avLst/>
          </a:prstGeom>
          <a:noFill/>
          <a:extLst>
            <a:ext uri="{909E8E84-426E-40DD-AFC4-6F175D3DCCD1}">
              <a14:hiddenFill xmlns:a14="http://schemas.microsoft.com/office/drawing/2010/main">
                <a:solidFill>
                  <a:srgbClr val="FFFFFF"/>
                </a:solidFill>
              </a14:hiddenFill>
            </a:ext>
          </a:extLst>
        </p:spPr>
      </p:pic>
      <p:sp>
        <p:nvSpPr>
          <p:cNvPr id="352" name="Google Shape;352;p23"/>
          <p:cNvSpPr/>
          <p:nvPr/>
        </p:nvSpPr>
        <p:spPr>
          <a:xfrm>
            <a:off x="3872139" y="722495"/>
            <a:ext cx="11068050" cy="707886"/>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0" b="1" dirty="0" smtClean="0">
                <a:solidFill>
                  <a:schemeClr val="lt1"/>
                </a:solidFill>
                <a:latin typeface="Ink Free" panose="03080402000500000000" pitchFamily="66" charset="0"/>
                <a:ea typeface="Times New Roman"/>
                <a:cs typeface="MV Boli" panose="02000500030200090000" pitchFamily="2" charset="0"/>
                <a:sym typeface="Times New Roman"/>
              </a:rPr>
              <a:t>Model Comparison</a:t>
            </a:r>
            <a:endParaRPr sz="8000" b="1" i="0" u="none" strike="noStrike" cap="none" dirty="0">
              <a:solidFill>
                <a:schemeClr val="lt1"/>
              </a:solidFill>
              <a:latin typeface="Ink Free" panose="03080402000500000000" pitchFamily="66" charset="0"/>
              <a:ea typeface="Times New Roman"/>
              <a:cs typeface="MV Boli" panose="02000500030200090000" pitchFamily="2" charset="0"/>
              <a:sym typeface="Times New Roman"/>
            </a:endParaRPr>
          </a:p>
        </p:txBody>
      </p:sp>
      <p:grpSp>
        <p:nvGrpSpPr>
          <p:cNvPr id="6" name="Group 5"/>
          <p:cNvGrpSpPr/>
          <p:nvPr/>
        </p:nvGrpSpPr>
        <p:grpSpPr>
          <a:xfrm>
            <a:off x="9958344" y="4685901"/>
            <a:ext cx="7015207" cy="4814948"/>
            <a:chOff x="9672594" y="4666851"/>
            <a:chExt cx="7015207" cy="4814948"/>
          </a:xfrm>
        </p:grpSpPr>
        <p:pic>
          <p:nvPicPr>
            <p:cNvPr id="2" name="Picture 1"/>
            <p:cNvPicPr>
              <a:picLocks noChangeAspect="1"/>
            </p:cNvPicPr>
            <p:nvPr/>
          </p:nvPicPr>
          <p:blipFill>
            <a:blip r:embed="rId4"/>
            <a:stretch>
              <a:fillRect/>
            </a:stretch>
          </p:blipFill>
          <p:spPr>
            <a:xfrm>
              <a:off x="9695785" y="6838177"/>
              <a:ext cx="6992016" cy="2643622"/>
            </a:xfrm>
            <a:prstGeom prst="rect">
              <a:avLst/>
            </a:prstGeom>
            <a:ln>
              <a:solidFill>
                <a:srgbClr val="FF0000"/>
              </a:solidFill>
            </a:ln>
          </p:spPr>
        </p:pic>
        <p:pic>
          <p:nvPicPr>
            <p:cNvPr id="4" name="Picture 3"/>
            <p:cNvPicPr>
              <a:picLocks noChangeAspect="1"/>
            </p:cNvPicPr>
            <p:nvPr/>
          </p:nvPicPr>
          <p:blipFill>
            <a:blip r:embed="rId5"/>
            <a:stretch>
              <a:fillRect/>
            </a:stretch>
          </p:blipFill>
          <p:spPr>
            <a:xfrm>
              <a:off x="9672594" y="4666851"/>
              <a:ext cx="7015207" cy="1631443"/>
            </a:xfrm>
            <a:prstGeom prst="rect">
              <a:avLst/>
            </a:prstGeom>
            <a:ln>
              <a:solidFill>
                <a:srgbClr val="FF0000"/>
              </a:solidFill>
            </a:ln>
          </p:spPr>
        </p:pic>
      </p:grpSp>
      <p:sp>
        <p:nvSpPr>
          <p:cNvPr id="14" name="Google Shape;352;p23"/>
          <p:cNvSpPr/>
          <p:nvPr/>
        </p:nvSpPr>
        <p:spPr>
          <a:xfrm>
            <a:off x="1294733" y="1833561"/>
            <a:ext cx="15678818" cy="2790089"/>
          </a:xfrm>
          <a:prstGeom prst="rect">
            <a:avLst/>
          </a:prstGeom>
          <a:noFill/>
          <a:ln>
            <a:noFill/>
          </a:ln>
        </p:spPr>
        <p:txBody>
          <a:bodyPr spcFirstLastPara="1" wrap="square" lIns="91425" tIns="45700" rIns="91425" bIns="45700" anchor="ctr" anchorCtr="0">
            <a:noAutofit/>
          </a:bodyPr>
          <a:lstStyle/>
          <a:p>
            <a:pPr lvl="0" algn="just"/>
            <a:r>
              <a:rPr lang="en-GB" sz="3000" dirty="0">
                <a:solidFill>
                  <a:schemeClr val="bg1"/>
                </a:solidFill>
                <a:latin typeface="Comic Sans MS" panose="030F0702030302020204" pitchFamily="66" charset="0"/>
              </a:rPr>
              <a:t>Based on the results, Decision Tree and Gradient Boosting performed the best with perfect scores across all metrics. Random Forest also showed excellent performance with very high accuracy. Naive Bayes and SVM performed well, while Logistic Regression gave moderate results. KNN had the lowest accuracy, making it the weakest model in this comparison.</a:t>
            </a:r>
            <a:endParaRPr sz="3000" b="1" i="0" u="none" strike="noStrike" cap="none" dirty="0">
              <a:solidFill>
                <a:schemeClr val="bg1"/>
              </a:solidFill>
              <a:latin typeface="Comic Sans MS" panose="030F0702030302020204" pitchFamily="66" charset="0"/>
              <a:ea typeface="Times New Roman"/>
              <a:cs typeface="MV Boli" panose="02000500030200090000" pitchFamily="2" charset="0"/>
              <a:sym typeface="Times New Roman"/>
            </a:endParaRPr>
          </a:p>
        </p:txBody>
      </p:sp>
      <p:pic>
        <p:nvPicPr>
          <p:cNvPr id="11" name="Picture 10"/>
          <p:cNvPicPr>
            <a:picLocks noChangeAspect="1"/>
          </p:cNvPicPr>
          <p:nvPr/>
        </p:nvPicPr>
        <p:blipFill>
          <a:blip r:embed="rId6"/>
          <a:stretch>
            <a:fillRect/>
          </a:stretch>
        </p:blipFill>
        <p:spPr>
          <a:xfrm>
            <a:off x="1294732" y="4638163"/>
            <a:ext cx="7925467" cy="4877199"/>
          </a:xfrm>
          <a:prstGeom prst="rect">
            <a:avLst/>
          </a:prstGeom>
          <a:ln>
            <a:solidFill>
              <a:srgbClr val="FF0000"/>
            </a:solid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52"/>
                                        </p:tgtEl>
                                        <p:attrNameLst>
                                          <p:attrName>style.visibility</p:attrName>
                                        </p:attrNameLst>
                                      </p:cBhvr>
                                      <p:to>
                                        <p:strVal val="visible"/>
                                      </p:to>
                                    </p:set>
                                    <p:anim calcmode="lin" valueType="num">
                                      <p:cBhvr additive="base">
                                        <p:cTn id="7" dur="500"/>
                                        <p:tgtEl>
                                          <p:spTgt spid="352"/>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 calcmode="lin" valueType="num">
                                      <p:cBhvr additive="base">
                                        <p:cTn id="12" dur="500"/>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pic>
        <p:nvPicPr>
          <p:cNvPr id="9" name="Picture 6" descr="abstrait numérique La technologie cerveau futuriste, ai artificiel  intelligence bleu arrière-plan, cyber science santé technologie, innovation  bavarder futur gros données, l'Internet réseau connexion, nuage  salut-technologie vecteur 33890724 Art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8288000" cy="10287000"/>
          </a:xfrm>
          <a:prstGeom prst="rect">
            <a:avLst/>
          </a:prstGeom>
          <a:noFill/>
          <a:extLst>
            <a:ext uri="{909E8E84-426E-40DD-AFC4-6F175D3DCCD1}">
              <a14:hiddenFill xmlns:a14="http://schemas.microsoft.com/office/drawing/2010/main">
                <a:solidFill>
                  <a:srgbClr val="FFFFFF"/>
                </a:solidFill>
              </a14:hiddenFill>
            </a:ext>
          </a:extLst>
        </p:spPr>
      </p:pic>
      <p:sp>
        <p:nvSpPr>
          <p:cNvPr id="362" name="Google Shape;362;p24"/>
          <p:cNvSpPr txBox="1"/>
          <p:nvPr/>
        </p:nvSpPr>
        <p:spPr>
          <a:xfrm>
            <a:off x="5981700" y="703301"/>
            <a:ext cx="6324600" cy="1107996"/>
          </a:xfrm>
          <a:prstGeom prst="rect">
            <a:avLst/>
          </a:prstGeom>
          <a:noFill/>
          <a:ln>
            <a:noFill/>
          </a:ln>
        </p:spPr>
        <p:txBody>
          <a:bodyPr spcFirstLastPara="1" wrap="square" lIns="0" tIns="0" rIns="0" bIns="0" anchor="t" anchorCtr="0">
            <a:spAutoFit/>
          </a:bodyPr>
          <a:lstStyle/>
          <a:p>
            <a:pPr marL="0" marR="0" lvl="0" indent="0" algn="ctr" rtl="0">
              <a:lnSpc>
                <a:spcPct val="90125"/>
              </a:lnSpc>
              <a:spcBef>
                <a:spcPts val="0"/>
              </a:spcBef>
              <a:spcAft>
                <a:spcPts val="0"/>
              </a:spcAft>
              <a:buNone/>
            </a:pPr>
            <a:r>
              <a:rPr lang="en-US" sz="8000" b="1" dirty="0" smtClean="0">
                <a:solidFill>
                  <a:schemeClr val="lt1"/>
                </a:solidFill>
                <a:latin typeface="Ink Free" panose="03080402000500000000" pitchFamily="66" charset="0"/>
                <a:ea typeface="Impact"/>
                <a:cs typeface="MV Boli" panose="02000500030200090000" pitchFamily="2" charset="0"/>
                <a:sym typeface="Impact"/>
              </a:rPr>
              <a:t>Conclusion</a:t>
            </a:r>
            <a:endParaRPr sz="8000" b="1" dirty="0">
              <a:solidFill>
                <a:schemeClr val="lt1"/>
              </a:solidFill>
              <a:latin typeface="Ink Free" panose="03080402000500000000" pitchFamily="66" charset="0"/>
              <a:ea typeface="Impact"/>
              <a:cs typeface="MV Boli" panose="02000500030200090000" pitchFamily="2" charset="0"/>
              <a:sym typeface="Impact"/>
            </a:endParaRPr>
          </a:p>
        </p:txBody>
      </p:sp>
      <p:sp>
        <p:nvSpPr>
          <p:cNvPr id="363" name="Google Shape;363;p24"/>
          <p:cNvSpPr/>
          <p:nvPr/>
        </p:nvSpPr>
        <p:spPr>
          <a:xfrm>
            <a:off x="685800" y="2324100"/>
            <a:ext cx="6858000" cy="6896099"/>
          </a:xfrm>
          <a:prstGeom prst="rect">
            <a:avLst/>
          </a:prstGeom>
          <a:noFill/>
          <a:ln>
            <a:noFill/>
          </a:ln>
        </p:spPr>
        <p:txBody>
          <a:bodyPr spcFirstLastPara="1" wrap="square" lIns="91425" tIns="45700" rIns="91425" bIns="45700" anchor="t" anchorCtr="0">
            <a:noAutofit/>
          </a:bodyPr>
          <a:lstStyle/>
          <a:p>
            <a:pPr algn="just"/>
            <a:r>
              <a:rPr lang="en-GB" sz="3600" dirty="0">
                <a:solidFill>
                  <a:schemeClr val="bg1"/>
                </a:solidFill>
                <a:latin typeface="Comic Sans MS" panose="030F0702030302020204" pitchFamily="66" charset="0"/>
              </a:rPr>
              <a:t>From the results and F1-score comparison, the Decision Tree model achieved the highest score and was automatically selected as the best model. This means that the Decision Tree classifier provides the most accurate and balanced predictions for this dataset, making it the most suitable choice for heart disease prediction in this project.</a:t>
            </a:r>
          </a:p>
        </p:txBody>
      </p:sp>
      <p:sp>
        <p:nvSpPr>
          <p:cNvPr id="365" name="Google Shape;365;p24"/>
          <p:cNvSpPr txBox="1"/>
          <p:nvPr/>
        </p:nvSpPr>
        <p:spPr>
          <a:xfrm>
            <a:off x="10782300" y="1766255"/>
            <a:ext cx="4114800" cy="1711879"/>
          </a:xfrm>
          <a:prstGeom prst="rect">
            <a:avLst/>
          </a:prstGeom>
          <a:noFill/>
          <a:ln>
            <a:noFill/>
          </a:ln>
        </p:spPr>
        <p:txBody>
          <a:bodyPr spcFirstLastPara="1" wrap="square" lIns="0" tIns="0" rIns="0" bIns="0" anchor="t" anchorCtr="0">
            <a:spAutoFit/>
          </a:bodyPr>
          <a:lstStyle/>
          <a:p>
            <a:pPr marL="0" marR="0" lvl="0" indent="0" algn="ctr" rtl="0">
              <a:lnSpc>
                <a:spcPct val="309000"/>
              </a:lnSpc>
              <a:spcBef>
                <a:spcPts val="0"/>
              </a:spcBef>
              <a:spcAft>
                <a:spcPts val="0"/>
              </a:spcAft>
              <a:buNone/>
            </a:pPr>
            <a:r>
              <a:rPr lang="en-US" sz="3600" b="1" dirty="0" smtClean="0">
                <a:solidFill>
                  <a:schemeClr val="lt1"/>
                </a:solidFill>
                <a:latin typeface="Comic Sans MS" panose="030F0702030302020204" pitchFamily="66" charset="0"/>
                <a:ea typeface="Times New Roman"/>
                <a:cs typeface="Times New Roman"/>
                <a:sym typeface="Times New Roman"/>
              </a:rPr>
              <a:t>Best Model </a:t>
            </a:r>
            <a:endParaRPr sz="3600" b="1" dirty="0">
              <a:solidFill>
                <a:schemeClr val="lt1"/>
              </a:solidFill>
              <a:latin typeface="Comic Sans MS" panose="030F0702030302020204" pitchFamily="66" charset="0"/>
              <a:ea typeface="Times New Roman"/>
              <a:cs typeface="Times New Roman"/>
              <a:sym typeface="Times New Roman"/>
            </a:endParaRPr>
          </a:p>
        </p:txBody>
      </p:sp>
      <p:pic>
        <p:nvPicPr>
          <p:cNvPr id="2" name="Picture 1"/>
          <p:cNvPicPr>
            <a:picLocks noChangeAspect="1"/>
          </p:cNvPicPr>
          <p:nvPr/>
        </p:nvPicPr>
        <p:blipFill>
          <a:blip r:embed="rId4"/>
          <a:stretch>
            <a:fillRect/>
          </a:stretch>
        </p:blipFill>
        <p:spPr>
          <a:xfrm>
            <a:off x="8210550" y="3415911"/>
            <a:ext cx="9448701" cy="3181433"/>
          </a:xfrm>
          <a:prstGeom prst="rect">
            <a:avLst/>
          </a:prstGeom>
          <a:ln>
            <a:solidFill>
              <a:srgbClr val="FF0000"/>
            </a:solid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62"/>
                                        </p:tgtEl>
                                        <p:attrNameLst>
                                          <p:attrName>style.visibility</p:attrName>
                                        </p:attrNameLst>
                                      </p:cBhvr>
                                      <p:to>
                                        <p:strVal val="visible"/>
                                      </p:to>
                                    </p:set>
                                    <p:anim calcmode="lin" valueType="num">
                                      <p:cBhvr additive="base">
                                        <p:cTn id="7" dur="500"/>
                                        <p:tgtEl>
                                          <p:spTgt spid="362"/>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63"/>
                                        </p:tgtEl>
                                        <p:attrNameLst>
                                          <p:attrName>style.visibility</p:attrName>
                                        </p:attrNameLst>
                                      </p:cBhvr>
                                      <p:to>
                                        <p:strVal val="visible"/>
                                      </p:to>
                                    </p:set>
                                    <p:anim calcmode="lin" valueType="num">
                                      <p:cBhvr additive="base">
                                        <p:cTn id="12" dur="500"/>
                                        <p:tgtEl>
                                          <p:spTgt spid="363"/>
                                        </p:tgtEl>
                                        <p:attrNameLst>
                                          <p:attrName>ppt_y</p:attrName>
                                        </p:attrNameLst>
                                      </p:cBhvr>
                                      <p:tavLst>
                                        <p:tav tm="0">
                                          <p:val>
                                            <p:strVal val="#ppt_y+1"/>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65"/>
                                        </p:tgtEl>
                                        <p:attrNameLst>
                                          <p:attrName>style.visibility</p:attrName>
                                        </p:attrNameLst>
                                      </p:cBhvr>
                                      <p:to>
                                        <p:strVal val="visible"/>
                                      </p:to>
                                    </p:set>
                                    <p:anim calcmode="lin" valueType="num">
                                      <p:cBhvr additive="base">
                                        <p:cTn id="15" dur="500"/>
                                        <p:tgtEl>
                                          <p:spTgt spid="36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pic>
        <p:nvPicPr>
          <p:cNvPr id="1030" name="Picture 6" descr="abstrait numérique La technologie cerveau futuriste, ai artificiel  intelligence bleu arrière-plan, cyber science santé technologie, innovation  bavarder futur gros données, l'Internet réseau connexion, nuage  salut-technologie vecteur 33890724 Art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8288000" cy="10287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3535898" y="4124084"/>
            <a:ext cx="11275855" cy="1458861"/>
          </a:xfrm>
          <a:prstGeom prst="rect">
            <a:avLst/>
          </a:prstGeom>
        </p:spPr>
        <p:txBody>
          <a:bodyPr wrap="square">
            <a:spAutoFit/>
          </a:bodyPr>
          <a:lstStyle/>
          <a:p>
            <a:pPr lvl="0" algn="ctr">
              <a:lnSpc>
                <a:spcPct val="90125"/>
              </a:lnSpc>
            </a:pPr>
            <a:r>
              <a:rPr lang="en-US" sz="9600" b="1" dirty="0" smtClean="0">
                <a:solidFill>
                  <a:schemeClr val="lt1"/>
                </a:solidFill>
                <a:latin typeface="MV Boli" panose="02000500030200090000" pitchFamily="2" charset="0"/>
                <a:ea typeface="Impact"/>
                <a:cs typeface="MV Boli" panose="02000500030200090000" pitchFamily="2" charset="0"/>
                <a:sym typeface="Impact"/>
              </a:rPr>
              <a:t>Thank You !!</a:t>
            </a:r>
            <a:endParaRPr lang="en-US" sz="9600" b="1" dirty="0">
              <a:solidFill>
                <a:schemeClr val="lt1"/>
              </a:solidFill>
              <a:latin typeface="MV Boli" panose="02000500030200090000" pitchFamily="2" charset="0"/>
              <a:ea typeface="Impact"/>
              <a:cs typeface="MV Boli" panose="02000500030200090000" pitchFamily="2" charset="0"/>
              <a:sym typeface="Impac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278</TotalTime>
  <Words>619</Words>
  <Application>Microsoft Office PowerPoint</Application>
  <PresentationFormat>Custom</PresentationFormat>
  <Paragraphs>69</Paragraphs>
  <Slides>13</Slides>
  <Notes>11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13</vt:i4>
      </vt:variant>
    </vt:vector>
  </HeadingPairs>
  <TitlesOfParts>
    <vt:vector size="23" baseType="lpstr">
      <vt:lpstr>Arial</vt:lpstr>
      <vt:lpstr>Arial MT</vt:lpstr>
      <vt:lpstr>Calibri</vt:lpstr>
      <vt:lpstr>Comic Sans MS</vt:lpstr>
      <vt:lpstr>Impact</vt:lpstr>
      <vt:lpstr>Ink Free</vt:lpstr>
      <vt:lpstr>MV Boli</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Microsoft account</cp:lastModifiedBy>
  <cp:revision>41</cp:revision>
  <cp:lastPrinted>2025-11-15T07:08:19Z</cp:lastPrinted>
  <dcterms:modified xsi:type="dcterms:W3CDTF">2025-11-15T08:29:01Z</dcterms:modified>
</cp:coreProperties>
</file>